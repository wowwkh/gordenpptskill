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  <p:sldMasterId id="2147483684" r:id="rId2"/>
    <p:sldMasterId id="2147483696" r:id="rId3"/>
  </p:sldMasterIdLst>
  <p:notesMasterIdLst>
    <p:notesMasterId r:id="rId26"/>
  </p:notesMasterIdLst>
  <p:sldIdLst>
    <p:sldId id="288" r:id="rId16"/>
    <p:sldId id="289" r:id="rId17"/>
    <p:sldId id="290" r:id="rId18"/>
    <p:sldId id="291" r:id="rId19"/>
    <p:sldId id="292" r:id="rId20"/>
    <p:sldId id="293" r:id="rId21"/>
    <p:sldId id="294" r:id="rId22"/>
    <p:sldId id="295" r:id="rId23"/>
    <p:sldId id="296" r:id="rId24"/>
    <p:sldId id="297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0" d="100"/>
          <a:sy n="70" d="100"/>
        </p:scale>
        <p:origin x="321" y="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E54EE-8195-4824-8EA9-CDAD5D5A2DD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86C88-17A3-4FE9-947C-6BBF2092A7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部分的总论点是：脑机接口不是中性的工具进步，资本逻辑可能深入身体与神经系统。左侧聚焦身体：技术由体外工具走向神经接口，医疗修复可以恢复能力，但资本主导的增强也可能扩大不平等。右侧聚焦劳动：脑数据、注意力和情绪可能被采集、量化、占有，劳动控制逼近神经层面。下一页用马克思主义理论工具说明这一判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86C88-17A3-4FE9-947C-6BBF2092A76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701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马克思主义分析用三件工具。第一，异化劳动：《1844年经济学哲学手稿》指出，人的本质力量外化后可能反过来支配人。第二，人的本质的社会性：“人的本质，在其现实性上，是一切社会关系的总和”出自《关于费尔巴哈的提纲》第六条；人机边界也应放在社会关系中理解。第三，机器体系与资本增殖：《资本论》第一卷揭示机器既发展生产力，也可能被资本用来组织劳动、追求剩余价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86C88-17A3-4FE9-947C-6BBF2092A76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1735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马克思用“器官”隐喻机器：工具承载人的意志与知识，是人的能力延伸。人借锤子、轮子、望远镜不断突破自然器官的局限。脑机接口把这一逻辑推进至神经层面，让神经信号转为设备指令。它既可能恢复受损能力，也把身体与技术的边界带入新的社会关系之中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86C88-17A3-4FE9-947C-6BBF2092A76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80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这一页作为过渡：从脑机接口“如何重塑身体与劳动”，转向“这种技术最终应当服务谁”。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86C88-17A3-4FE9-947C-6BBF2092A76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7915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马克思主义肯定技术的尺度是人的发展。《共产党宣言》提出“每个人的自由发展是一切人的自由发展的条件”。因此，脑机接口的医疗修复价值值得肯定；但还要追问谁能获得技术、谁掌控技术、技术是否增进普遍福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86C88-17A3-4FE9-947C-6BBF2092A76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1187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实践看，脑机接口在神经康复中的积极价值，体现在帮助部分运动障碍患者重建行动与沟通。意念控制机械臂、轮椅等辅助设备，是功能恢复与社会参与的现实路径。技术能否走向普惠，需要与医疗服务、公共政策和伦理保障协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86C88-17A3-4FE9-947C-6BBF2092A76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2624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类矛盾共同说明，生产力提升不自动带来社会公平。第一，系统成本与医疗可及性之间存在张力，文稿中的价格为估算，需按具体方案核验。第二，神经数据涉及认知与情绪，权属、授权和安全边界需要制度回应。第三，人体改造与算法介入可能影响身体自主和人格完整，须守住不伤害原则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86C88-17A3-4FE9-947C-6BBF2092A76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212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理论反思的核心是：技术后果并非由技术本身自动决定，而取决于社会关系与制度安排。脑机接口可能把身体和神经数据纳入资本增殖与控制。治理需要落实尊严、自主、隐私和可问责机制；马克思关于劳动资料指示社会关系的判断，提醒我们同时关注谁拥有技术、谁控制数据、红利如何分配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86C88-17A3-4FE9-947C-6BBF2092A76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9355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这一页不加正文，作为转场：从技术异化与治理讨论，过渡到全组结论——不是拒绝技术，而是争取让技术服务于人。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86C88-17A3-4FE9-947C-6BBF2092A76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8133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结语：我们不拒绝脑机接口，也不把技术进步等同于社会进步。关键是避免资本逻辑支配身体与劳动，让技术红利普惠大众，守住人的尊严、隐私和主体性。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786C88-17A3-4FE9-947C-6BBF2092A76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206779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541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546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356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95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9825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021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24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779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029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207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244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5236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333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229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5655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9205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154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2152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9562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3626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08467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2491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fficePLUSCoverBackgroundShape">
            <a:extLst>
              <a:ext uri="{FF2B5EF4-FFF2-40B4-BE49-F238E27FC236}">
                <a16:creationId xmlns:a16="http://schemas.microsoft.com/office/drawing/2014/main" id="{9334B791-F3FC-47EA-B41B-2DA7DD9B4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" y="0"/>
            <a:ext cx="12191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244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34B791-F3FC-47EA-B41B-2DA7DD9B4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48" y="0"/>
            <a:ext cx="12191303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AACAFB-E078-41E5-BE32-2CCD597E1D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7649" y="6109859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r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000" b="0" kern="12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578" lvl="0" indent="-228578" algn="r">
              <a:spcBef>
                <a:spcPct val="0"/>
              </a:spcBef>
            </a:pPr>
            <a:r>
              <a:rPr lang="en-US" altLang="zh-CN" dirty="0"/>
              <a:t>Speaker name and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93D43E-1697-4C76-BF37-C96E16B134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3100" y="6109859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000" b="0" kern="120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altLang="zh-CN" dirty="0"/>
              <a:t>OfficePLUS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D368F-863D-4527-8F6D-CEC87B7E23E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2" y="2003919"/>
            <a:ext cx="6703784" cy="1754326"/>
          </a:xfrm>
        </p:spPr>
        <p:txBody>
          <a:bodyPr anchor="b">
            <a:spAutoFit/>
          </a:bodyPr>
          <a:lstStyle>
            <a:lvl1pPr marL="0"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60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/>
              <a:t>Click to edit Master title style 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8FF249-69FA-478C-853F-D62CA2935D8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73100" y="4784612"/>
            <a:ext cx="6703784" cy="258532"/>
          </a:xfrm>
        </p:spPr>
        <p:txBody>
          <a:bodyPr>
            <a:spAutoFit/>
          </a:bodyPr>
          <a:lstStyle>
            <a:lvl1pPr marL="0" indent="0" algn="l" defTabSz="914332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200" kern="1200" dirty="0">
                <a:solidFill>
                  <a:schemeClr val="tx1">
                    <a:lumMod val="75000"/>
                    <a:lumOff val="25000"/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altLang="zh-CN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969863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A07286-EFF6-4FBB-8C1B-ACB292A0DD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" y="0"/>
            <a:ext cx="12191303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6B40EAC-1236-4C2C-A5B0-5B2D469D0A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94661" y="2560773"/>
            <a:ext cx="5677105" cy="1133475"/>
          </a:xfrm>
        </p:spPr>
        <p:txBody>
          <a:bodyPr anchor="b">
            <a:normAutofit/>
          </a:bodyPr>
          <a:lstStyle>
            <a:lvl1pPr>
              <a:defRPr sz="2400">
                <a:solidFill>
                  <a:schemeClr val="accent3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12325-CA12-44BF-8B8C-2D3C6232D8B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94661" y="3721233"/>
            <a:ext cx="5677105" cy="965763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793260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5B30-EAE6-475D-9E77-B9C4E87F9C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27A5331-58C4-4210-9B29-7D209EC69F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/>
          <a:lstStyle/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C1F83E-F48A-4A82-AEA9-9C5660FB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D47482C-BA78-45A4-AAF3-F9A7E84F9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/>
          <a:lstStyle/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4021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63955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6D4D178-C5A2-44AC-9D62-474206DAA5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" y="0"/>
            <a:ext cx="12191303" cy="685800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A271160-581E-4BCE-BACF-7271659F1D01}"/>
              </a:ext>
            </a:extLst>
          </p:cNvPr>
          <p:cNvSpPr/>
          <p:nvPr/>
        </p:nvSpPr>
        <p:spPr>
          <a:xfrm>
            <a:off x="12191318" y="0"/>
            <a:ext cx="684" cy="13546"/>
          </a:xfrm>
          <a:custGeom>
            <a:avLst/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401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4C84A20-CF9D-4080-959D-55F32AB29A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5191" y="4503886"/>
            <a:ext cx="5133876" cy="2585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r">
              <a:buNone/>
              <a:defRPr lang="zh-CN" altLang="en-US" sz="1200" b="0" dirty="0" smtClean="0">
                <a:ln>
                  <a:noFill/>
                </a:ln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altLang="zh-CN" dirty="0"/>
              <a:t>Signature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EA7D86A-A334-4E0C-B01B-43F345A176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35191" y="4762418"/>
            <a:ext cx="5133876" cy="2585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r">
              <a:buNone/>
              <a:defRPr lang="zh-CN" altLang="en-US" sz="1200" b="0" dirty="0" smtClean="0">
                <a:ln>
                  <a:noFill/>
                </a:ln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altLang="zh-CN" dirty="0"/>
              <a:t>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A48BB-A1A1-4744-B0D3-FD4F42C33B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5191" y="2505670"/>
            <a:ext cx="5133876" cy="923330"/>
          </a:xfrm>
        </p:spPr>
        <p:txBody>
          <a:bodyPr wrap="square" anchor="b">
            <a:spAutoFit/>
          </a:bodyPr>
          <a:lstStyle>
            <a:lvl1pPr marL="0" indent="0" algn="r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altLang="zh-CN" sz="60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altLang="zh-C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6031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789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662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F18504-D86E-411A-B171-2A74DE29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2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8A4509-A6D7-41B5-BE28-213FB58E8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DEDA773-1B71-4202-AD8A-0D33468FE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B5A9DA1-C350-4E69-80BB-54BF725E890E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0483E03-0186-4754-8285-0D57953FB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8030F2-F0B4-4140-B9B5-8B5B27074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52F796A-D737-42EF-B1AA-C6C5D1078B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045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>
          <p15:clr>
            <a:srgbClr val="F26B43"/>
          </p15:clr>
        </p15:guide>
        <p15:guide id="2" pos="7256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28">
          <p15:clr>
            <a:srgbClr val="F26B43"/>
          </p15:clr>
        </p15:guide>
        <p15:guide id="6" orient="horz" pos="386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4.mp4"/><Relationship Id="rId2" Type="http://schemas.openxmlformats.org/officeDocument/2006/relationships/video" Target="../media/media4.mp4"/><Relationship Id="rId3" Type="http://schemas.openxmlformats.org/officeDocument/2006/relationships/slideLayout" Target="../slideLayouts/slideLayout26.xml"/><Relationship Id="rId4" Type="http://schemas.openxmlformats.org/officeDocument/2006/relationships/notesSlide" Target="../notesSlides/notesSlide13.xml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microsoft.com/office/2007/relationships/media" Target="../media/media5.mp4"/><Relationship Id="rId2" Type="http://schemas.openxmlformats.org/officeDocument/2006/relationships/video" Target="../media/media5.mp4"/><Relationship Id="rId3" Type="http://schemas.openxmlformats.org/officeDocument/2006/relationships/slideLayout" Target="../slideLayouts/slideLayout26.xml"/><Relationship Id="rId4" Type="http://schemas.openxmlformats.org/officeDocument/2006/relationships/notesSlide" Target="../notesSlides/notesSlide18.xml"/><Relationship Id="rId5" Type="http://schemas.openxmlformats.org/officeDocument/2006/relationships/image" Target="../media/image8.png"/><Relationship Id="rId6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63164-AFD9-DB5D-3077-8E69D382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103EAA9C-2ED3-31A0-DD47-8EFFC01EF61D}"/>
              </a:ext>
            </a:extLst>
          </p:cNvPr>
          <p:cNvSpPr txBox="1"/>
          <p:nvPr/>
        </p:nvSpPr>
        <p:spPr>
          <a:xfrm>
            <a:off x="914171" y="533400"/>
            <a:ext cx="1036060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6E746A">
                    <a:alpha val="100000"/>
                  </a:srgbClr>
                </a:solidFill>
                <a:latin typeface="Arial" panose="020B0604020202020204" pitchFamily="34" charset="0"/>
                <a:ea typeface="Inter"/>
                <a:cs typeface="Arial" panose="020B0604020202020204" pitchFamily="34" charset="0"/>
              </a:rPr>
              <a:t>脑机接口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B8E48160-4353-9F29-4F53-A364EE4F4F67}"/>
              </a:ext>
            </a:extLst>
          </p:cNvPr>
          <p:cNvSpPr txBox="1"/>
          <p:nvPr/>
        </p:nvSpPr>
        <p:spPr>
          <a:xfrm>
            <a:off x="914171" y="809625"/>
            <a:ext cx="10360609" cy="4476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t/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3E02AAB6-422F-CAEF-15D1-F182465008AC}"/>
              </a:ext>
            </a:extLst>
          </p:cNvPr>
          <p:cNvSpPr/>
          <p:nvPr/>
        </p:nvSpPr>
        <p:spPr>
          <a:xfrm>
            <a:off x="914171" y="1897261"/>
            <a:ext cx="5066033" cy="4579739"/>
          </a:xfrm>
          <a:prstGeom prst="roundRect">
            <a:avLst>
              <a:gd name="adj" fmla="val 249"/>
            </a:avLst>
          </a:prstGeom>
          <a:solidFill>
            <a:srgbClr val="F4F5F0">
              <a:alpha val="100000"/>
            </a:srgbClr>
          </a:solidFill>
          <a:ln w="9525">
            <a:solidFill>
              <a:srgbClr val="E3E4DD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FE80932E-98A8-A60B-A7F9-CCE6A0CD42FF}"/>
              </a:ext>
            </a:extLst>
          </p:cNvPr>
          <p:cNvSpPr/>
          <p:nvPr/>
        </p:nvSpPr>
        <p:spPr>
          <a:xfrm>
            <a:off x="914171" y="1897261"/>
            <a:ext cx="5066033" cy="9525"/>
          </a:xfrm>
          <a:prstGeom prst="line">
            <a:avLst/>
          </a:prstGeom>
          <a:ln w="28575">
            <a:solidFill>
              <a:srgbClr val="2F7BF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126B1DCD-5D77-B95C-643C-39A38EE1E6A9}"/>
              </a:ext>
            </a:extLst>
          </p:cNvPr>
          <p:cNvSpPr txBox="1"/>
          <p:nvPr/>
        </p:nvSpPr>
        <p:spPr>
          <a:xfrm>
            <a:off x="1190328" y="2163961"/>
            <a:ext cx="4513721" cy="5048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600" b="1" i="0" strike="noStrike">
                <a:solidFill>
                  <a:srgbClr val="2F7BFF">
                    <a:alpha val="18039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lang="en-US" sz="11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90C26E9-D314-A62F-2FDA-6DF4C07553C3}"/>
              </a:ext>
            </a:extLst>
          </p:cNvPr>
          <p:cNvSpPr txBox="1"/>
          <p:nvPr/>
        </p:nvSpPr>
        <p:spPr>
          <a:xfrm>
            <a:off x="1190328" y="2764036"/>
            <a:ext cx="4513721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身体重塑</a:t>
            </a:r>
            <a:endParaRPr lang="en-US" sz="1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AutoShape 11">
            <a:extLst>
              <a:ext uri="{FF2B5EF4-FFF2-40B4-BE49-F238E27FC236}">
                <a16:creationId xmlns:a16="http://schemas.microsoft.com/office/drawing/2014/main" id="{8943B32B-6553-2A1F-786D-FDCFCEC2FDEE}"/>
              </a:ext>
            </a:extLst>
          </p:cNvPr>
          <p:cNvSpPr/>
          <p:nvPr/>
        </p:nvSpPr>
        <p:spPr>
          <a:xfrm>
            <a:off x="1190328" y="3249811"/>
            <a:ext cx="57136" cy="57150"/>
          </a:xfrm>
          <a:prstGeom prst="ellipse">
            <a:avLst/>
          </a:prstGeom>
          <a:solidFill>
            <a:srgbClr val="2F7BFF">
              <a:alpha val="6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1" name="TextBox 12">
            <a:extLst>
              <a:ext uri="{FF2B5EF4-FFF2-40B4-BE49-F238E27FC236}">
                <a16:creationId xmlns:a16="http://schemas.microsoft.com/office/drawing/2014/main" id="{8BE73C06-A6E0-BB01-932A-9E033EDDCFFF}"/>
              </a:ext>
            </a:extLst>
          </p:cNvPr>
          <p:cNvSpPr txBox="1"/>
          <p:nvPr/>
        </p:nvSpPr>
        <p:spPr>
          <a:xfrm>
            <a:off x="1342690" y="3211711"/>
            <a:ext cx="436135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医疗修复</a:t>
            </a:r>
            <a:r>
              <a:rPr lang="zh-CN" altLang="en-US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altLang="zh-CN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zh-CN" altLang="en-US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AutoShape 13">
            <a:extLst>
              <a:ext uri="{FF2B5EF4-FFF2-40B4-BE49-F238E27FC236}">
                <a16:creationId xmlns:a16="http://schemas.microsoft.com/office/drawing/2014/main" id="{CCDA626E-2EE8-934B-BCEB-7F82D6CEB5EE}"/>
              </a:ext>
            </a:extLst>
          </p:cNvPr>
          <p:cNvSpPr/>
          <p:nvPr/>
        </p:nvSpPr>
        <p:spPr>
          <a:xfrm>
            <a:off x="1190328" y="4068757"/>
            <a:ext cx="57136" cy="57150"/>
          </a:xfrm>
          <a:prstGeom prst="ellipse">
            <a:avLst/>
          </a:prstGeom>
          <a:solidFill>
            <a:srgbClr val="2F7BFF">
              <a:alpha val="6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3" name="TextBox 14">
            <a:extLst>
              <a:ext uri="{FF2B5EF4-FFF2-40B4-BE49-F238E27FC236}">
                <a16:creationId xmlns:a16="http://schemas.microsoft.com/office/drawing/2014/main" id="{5A898B64-1679-5411-D284-347AB633653E}"/>
              </a:ext>
            </a:extLst>
          </p:cNvPr>
          <p:cNvSpPr txBox="1"/>
          <p:nvPr/>
        </p:nvSpPr>
        <p:spPr>
          <a:xfrm>
            <a:off x="1342690" y="4053385"/>
            <a:ext cx="4361359" cy="55273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资本增强</a:t>
            </a:r>
            <a:r>
              <a:rPr lang="en-US"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AutoShape 15">
            <a:extLst>
              <a:ext uri="{FF2B5EF4-FFF2-40B4-BE49-F238E27FC236}">
                <a16:creationId xmlns:a16="http://schemas.microsoft.com/office/drawing/2014/main" id="{D156305E-5542-3C22-ABFC-6C93CB65A74A}"/>
              </a:ext>
            </a:extLst>
          </p:cNvPr>
          <p:cNvSpPr/>
          <p:nvPr/>
        </p:nvSpPr>
        <p:spPr>
          <a:xfrm>
            <a:off x="1221869" y="4876268"/>
            <a:ext cx="57136" cy="57150"/>
          </a:xfrm>
          <a:prstGeom prst="ellipse">
            <a:avLst/>
          </a:prstGeom>
          <a:solidFill>
            <a:srgbClr val="2F7BFF">
              <a:alpha val="6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A8F398C9-9849-A7E1-F287-8B189C0BA1E2}"/>
              </a:ext>
            </a:extLst>
          </p:cNvPr>
          <p:cNvSpPr txBox="1"/>
          <p:nvPr/>
        </p:nvSpPr>
        <p:spPr>
          <a:xfrm>
            <a:off x="1342690" y="4783336"/>
            <a:ext cx="4361359" cy="65171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谁决定？</a:t>
            </a:r>
            <a:r>
              <a:rPr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AutoShape 17">
            <a:extLst>
              <a:ext uri="{FF2B5EF4-FFF2-40B4-BE49-F238E27FC236}">
                <a16:creationId xmlns:a16="http://schemas.microsoft.com/office/drawing/2014/main" id="{209EC92D-BB0D-179A-A109-27FF375E5188}"/>
              </a:ext>
            </a:extLst>
          </p:cNvPr>
          <p:cNvSpPr/>
          <p:nvPr/>
        </p:nvSpPr>
        <p:spPr>
          <a:xfrm>
            <a:off x="6208747" y="1897261"/>
            <a:ext cx="5066033" cy="4579739"/>
          </a:xfrm>
          <a:prstGeom prst="roundRect">
            <a:avLst>
              <a:gd name="adj" fmla="val 249"/>
            </a:avLst>
          </a:prstGeom>
          <a:solidFill>
            <a:srgbClr val="F4F5F0">
              <a:alpha val="100000"/>
            </a:srgbClr>
          </a:solidFill>
          <a:ln w="9525">
            <a:solidFill>
              <a:srgbClr val="E3E4DD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 dirty="0"/>
          </a:p>
        </p:txBody>
      </p:sp>
      <p:sp>
        <p:nvSpPr>
          <p:cNvPr id="17" name="AutoShape 18">
            <a:extLst>
              <a:ext uri="{FF2B5EF4-FFF2-40B4-BE49-F238E27FC236}">
                <a16:creationId xmlns:a16="http://schemas.microsoft.com/office/drawing/2014/main" id="{0AF960E6-A6ED-15FD-BBA6-081069CA1DF8}"/>
              </a:ext>
            </a:extLst>
          </p:cNvPr>
          <p:cNvSpPr/>
          <p:nvPr/>
        </p:nvSpPr>
        <p:spPr>
          <a:xfrm>
            <a:off x="6208747" y="1897261"/>
            <a:ext cx="5066033" cy="9525"/>
          </a:xfrm>
          <a:prstGeom prst="line">
            <a:avLst/>
          </a:prstGeom>
          <a:ln w="28575">
            <a:solidFill>
              <a:srgbClr val="23C76A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8" name="TextBox 19">
            <a:extLst>
              <a:ext uri="{FF2B5EF4-FFF2-40B4-BE49-F238E27FC236}">
                <a16:creationId xmlns:a16="http://schemas.microsoft.com/office/drawing/2014/main" id="{4A6404D6-DD9A-86BE-54BD-33185B345B69}"/>
              </a:ext>
            </a:extLst>
          </p:cNvPr>
          <p:cNvSpPr txBox="1"/>
          <p:nvPr/>
        </p:nvSpPr>
        <p:spPr>
          <a:xfrm>
            <a:off x="6484903" y="2163961"/>
            <a:ext cx="4513721" cy="5048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3600" b="1" i="0" strike="noStrike">
                <a:solidFill>
                  <a:srgbClr val="23C76A">
                    <a:alpha val="2196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lang="en-US" sz="11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9" name="TextBox 20">
            <a:extLst>
              <a:ext uri="{FF2B5EF4-FFF2-40B4-BE49-F238E27FC236}">
                <a16:creationId xmlns:a16="http://schemas.microsoft.com/office/drawing/2014/main" id="{CA4AD3AF-B746-A0E7-31D9-B732517B9600}"/>
              </a:ext>
            </a:extLst>
          </p:cNvPr>
          <p:cNvSpPr txBox="1"/>
          <p:nvPr/>
        </p:nvSpPr>
        <p:spPr>
          <a:xfrm>
            <a:off x="6484903" y="2764036"/>
            <a:ext cx="4513721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500" b="1" i="0" strike="noStrike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劳动重塑</a:t>
            </a:r>
            <a:endParaRPr lang="en-US" sz="11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0" name="AutoShape 21">
            <a:extLst>
              <a:ext uri="{FF2B5EF4-FFF2-40B4-BE49-F238E27FC236}">
                <a16:creationId xmlns:a16="http://schemas.microsoft.com/office/drawing/2014/main" id="{EF556EBD-27CF-808E-CD47-56F1088E3F85}"/>
              </a:ext>
            </a:extLst>
          </p:cNvPr>
          <p:cNvSpPr/>
          <p:nvPr/>
        </p:nvSpPr>
        <p:spPr>
          <a:xfrm>
            <a:off x="6484903" y="3277107"/>
            <a:ext cx="57136" cy="57150"/>
          </a:xfrm>
          <a:prstGeom prst="ellipse">
            <a:avLst/>
          </a:prstGeom>
          <a:solidFill>
            <a:srgbClr val="23C76A">
              <a:alpha val="6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21" name="TextBox 22">
            <a:extLst>
              <a:ext uri="{FF2B5EF4-FFF2-40B4-BE49-F238E27FC236}">
                <a16:creationId xmlns:a16="http://schemas.microsoft.com/office/drawing/2014/main" id="{D66C905E-0A85-C1FF-39AA-884B7D147450}"/>
              </a:ext>
            </a:extLst>
          </p:cNvPr>
          <p:cNvSpPr txBox="1"/>
          <p:nvPr/>
        </p:nvSpPr>
        <p:spPr>
          <a:xfrm>
            <a:off x="6637265" y="3211711"/>
            <a:ext cx="4361359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脑数据</a:t>
            </a:r>
            <a:r>
              <a:rPr lang="en-US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3" name="TextBox 24">
            <a:extLst>
              <a:ext uri="{FF2B5EF4-FFF2-40B4-BE49-F238E27FC236}">
                <a16:creationId xmlns:a16="http://schemas.microsoft.com/office/drawing/2014/main" id="{EE40F862-DFEE-FBD9-734A-DC2B3EDF7BC9}"/>
              </a:ext>
            </a:extLst>
          </p:cNvPr>
          <p:cNvSpPr txBox="1"/>
          <p:nvPr/>
        </p:nvSpPr>
        <p:spPr>
          <a:xfrm>
            <a:off x="6637265" y="4068757"/>
            <a:ext cx="4361359" cy="6124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神经监控</a:t>
            </a:r>
            <a:r>
              <a:rPr lang="en-US"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5" name="TextBox 26">
            <a:extLst>
              <a:ext uri="{FF2B5EF4-FFF2-40B4-BE49-F238E27FC236}">
                <a16:creationId xmlns:a16="http://schemas.microsoft.com/office/drawing/2014/main" id="{B1E19D1C-9B2E-69B3-B812-BA2085E05782}"/>
              </a:ext>
            </a:extLst>
          </p:cNvPr>
          <p:cNvSpPr txBox="1"/>
          <p:nvPr/>
        </p:nvSpPr>
        <p:spPr>
          <a:xfrm>
            <a:off x="6637265" y="4933418"/>
            <a:ext cx="4361359" cy="50163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谁受益？</a:t>
            </a:r>
            <a:r>
              <a:rPr sz="1400" b="0" i="0" strike="noStrike" dirty="0" err="1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D100A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43AC9E0A-0F50-60B5-21D1-34D41ADF0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12192001" cy="656846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55450B1F-22B7-8A2D-8DD3-874D423B2D90}"/>
              </a:ext>
            </a:extLst>
          </p:cNvPr>
          <p:cNvSpPr txBox="1"/>
          <p:nvPr/>
        </p:nvSpPr>
        <p:spPr>
          <a:xfrm>
            <a:off x="179998" y="-54039"/>
            <a:ext cx="7505078" cy="656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en-US" sz="2800" b="1" kern="100" dirty="0">
                <a:solidFill>
                  <a:schemeClr val="accent5">
                    <a:lumMod val="75000"/>
                  </a:schemeClr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技术非中性</a:t>
            </a:r>
          </a:p>
        </p:txBody>
      </p:sp>
      <p:sp>
        <p:nvSpPr>
          <p:cNvPr id="31" name="AutoShape 21">
            <a:extLst>
              <a:ext uri="{FF2B5EF4-FFF2-40B4-BE49-F238E27FC236}">
                <a16:creationId xmlns:a16="http://schemas.microsoft.com/office/drawing/2014/main" id="{B87C6458-F812-A2AC-E65E-5336107BF1A7}"/>
              </a:ext>
            </a:extLst>
          </p:cNvPr>
          <p:cNvSpPr/>
          <p:nvPr/>
        </p:nvSpPr>
        <p:spPr>
          <a:xfrm>
            <a:off x="6484903" y="4134743"/>
            <a:ext cx="57136" cy="57150"/>
          </a:xfrm>
          <a:prstGeom prst="ellipse">
            <a:avLst/>
          </a:prstGeom>
          <a:solidFill>
            <a:srgbClr val="23C76A">
              <a:alpha val="6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33" name="AutoShape 21">
            <a:extLst>
              <a:ext uri="{FF2B5EF4-FFF2-40B4-BE49-F238E27FC236}">
                <a16:creationId xmlns:a16="http://schemas.microsoft.com/office/drawing/2014/main" id="{65FAF9F1-0B36-DBA7-BBA9-A188D4218935}"/>
              </a:ext>
            </a:extLst>
          </p:cNvPr>
          <p:cNvSpPr/>
          <p:nvPr/>
        </p:nvSpPr>
        <p:spPr>
          <a:xfrm>
            <a:off x="6484903" y="5052045"/>
            <a:ext cx="57136" cy="57150"/>
          </a:xfrm>
          <a:prstGeom prst="ellipse">
            <a:avLst/>
          </a:prstGeom>
          <a:solidFill>
            <a:srgbClr val="23C76A">
              <a:alpha val="6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701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0CD3CB-8879-BB2C-D664-761C701A4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理论工具</a:t>
            </a:r>
            <a:r>
              <a:rPr lang="zh-CN" altLang="en-US"/>
              <a:t/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B3D00A-AEB5-25B8-FB7F-2FB534E73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12192001" cy="656846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ACB4CB9D-FC92-A41E-AFFA-F1F6A2915CF4}"/>
              </a:ext>
            </a:extLst>
          </p:cNvPr>
          <p:cNvSpPr/>
          <p:nvPr/>
        </p:nvSpPr>
        <p:spPr>
          <a:xfrm>
            <a:off x="-2" y="291541"/>
            <a:ext cx="180000" cy="1800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  <a:endParaRPr lang="zh-CN" altLang="en-US">
              <a:solidFill>
                <a:srgbClr val="1A3F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19">
            <a:extLst>
              <a:ext uri="{FF2B5EF4-FFF2-40B4-BE49-F238E27FC236}">
                <a16:creationId xmlns:a16="http://schemas.microsoft.com/office/drawing/2014/main" id="{2F775F0C-7463-945F-95AE-6BDADDD6D7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03924" y="2185540"/>
            <a:ext cx="4723218" cy="330071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AutoShape 7">
            <a:extLst>
              <a:ext uri="{FF2B5EF4-FFF2-40B4-BE49-F238E27FC236}">
                <a16:creationId xmlns:a16="http://schemas.microsoft.com/office/drawing/2014/main" id="{DFA50CEA-1227-4D3A-1C81-A949AC6DAF0C}"/>
              </a:ext>
            </a:extLst>
          </p:cNvPr>
          <p:cNvSpPr/>
          <p:nvPr/>
        </p:nvSpPr>
        <p:spPr>
          <a:xfrm>
            <a:off x="363777" y="1528167"/>
            <a:ext cx="9522" cy="575221"/>
          </a:xfrm>
          <a:prstGeom prst="line">
            <a:avLst/>
          </a:prstGeom>
          <a:ln w="28575">
            <a:solidFill>
              <a:srgbClr val="2F7BF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CD734C-A74A-9A82-F0F6-118E90399EC1}"/>
              </a:ext>
            </a:extLst>
          </p:cNvPr>
          <p:cNvSpPr txBox="1"/>
          <p:nvPr/>
        </p:nvSpPr>
        <p:spPr>
          <a:xfrm>
            <a:off x="535184" y="1604367"/>
            <a:ext cx="534218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 dirty="0">
                <a:solidFill>
                  <a:srgbClr val="2F7BFF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1844手稿</a:t>
            </a:r>
            <a:endParaRPr lang="en-US" sz="16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3947B5-C11B-970B-E78F-71171593C44C}"/>
              </a:ext>
            </a:extLst>
          </p:cNvPr>
          <p:cNvSpPr txBox="1"/>
          <p:nvPr/>
        </p:nvSpPr>
        <p:spPr>
          <a:xfrm>
            <a:off x="544706" y="1823442"/>
            <a:ext cx="10484404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>异化劳动</a:t>
            </a:r>
            <a:r>
              <a:rPr lang="en-US" sz="1600" b="0" i="0" strike="noStrike" dirty="0" err="1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r>
              <a:rPr lang="en-US" sz="1600" b="0" i="0" strike="noStrike" dirty="0" err="1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C7A25DC1-82D4-39B6-C6C9-90B394AD5A75}"/>
              </a:ext>
            </a:extLst>
          </p:cNvPr>
          <p:cNvSpPr/>
          <p:nvPr/>
        </p:nvSpPr>
        <p:spPr>
          <a:xfrm>
            <a:off x="363777" y="2236738"/>
            <a:ext cx="9522" cy="788491"/>
          </a:xfrm>
          <a:prstGeom prst="line">
            <a:avLst/>
          </a:prstGeom>
          <a:ln w="28575">
            <a:solidFill>
              <a:srgbClr val="2F7BF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3CD655-4187-52ED-0543-2C098DE3775D}"/>
              </a:ext>
            </a:extLst>
          </p:cNvPr>
          <p:cNvSpPr txBox="1"/>
          <p:nvPr/>
        </p:nvSpPr>
        <p:spPr>
          <a:xfrm>
            <a:off x="544706" y="2331988"/>
            <a:ext cx="534218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100" b="1" i="0" strike="noStrike" dirty="0">
                <a:solidFill>
                  <a:srgbClr val="2F7BFF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提纲第六条</a:t>
            </a:r>
            <a:endParaRPr lang="en-US" sz="1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C54988-8CB3-B34F-73C1-6A1C2FF5C5EF}"/>
              </a:ext>
            </a:extLst>
          </p:cNvPr>
          <p:cNvSpPr txBox="1"/>
          <p:nvPr/>
        </p:nvSpPr>
        <p:spPr>
          <a:xfrm>
            <a:off x="544706" y="2532013"/>
            <a:ext cx="6085408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>社会关系总和</a:t>
            </a:r>
            <a:r>
              <a:rPr lang="en-US" sz="1600" b="0" i="0" strike="noStrike" dirty="0" err="1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r>
              <a:rPr lang="en-US" sz="1600" b="0" i="0" strike="noStrike" dirty="0" err="1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r>
              <a:rPr sz="1600" b="0" i="0" strike="noStrike" dirty="0" err="1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r>
              <a:rPr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Source Han Sans"/>
                <a:cs typeface="Arial" panose="020B0604020202020204" pitchFamily="34" charset="0"/>
              </a:rPr>
              <a:t/>
            </a:r>
            <a:endParaRPr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30EC1077-B49E-5195-719F-33F8A512DC4D}"/>
              </a:ext>
            </a:extLst>
          </p:cNvPr>
          <p:cNvSpPr/>
          <p:nvPr/>
        </p:nvSpPr>
        <p:spPr>
          <a:xfrm>
            <a:off x="363777" y="3158579"/>
            <a:ext cx="9522" cy="575221"/>
          </a:xfrm>
          <a:prstGeom prst="line">
            <a:avLst/>
          </a:prstGeom>
          <a:ln w="28575">
            <a:solidFill>
              <a:srgbClr val="2F7BFF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96CCDF-049E-AB77-8589-F121B1B9D2E6}"/>
              </a:ext>
            </a:extLst>
          </p:cNvPr>
          <p:cNvSpPr txBox="1"/>
          <p:nvPr/>
        </p:nvSpPr>
        <p:spPr>
          <a:xfrm>
            <a:off x="544706" y="3253829"/>
            <a:ext cx="5342189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1" i="0" strike="noStrike" dirty="0">
                <a:solidFill>
                  <a:srgbClr val="2F7BFF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资本论·卷一</a:t>
            </a:r>
            <a:r>
              <a:rPr lang="en-US" sz="1100" b="1" i="0" strike="noStrike" dirty="0">
                <a:solidFill>
                  <a:srgbClr val="2F7BFF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900" b="1" i="0" strike="noStrike" dirty="0">
                <a:solidFill>
                  <a:srgbClr val="2F7BFF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lang="en-US" sz="1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5FC58B-B3FE-0CAA-26A0-A7ED45A756E1}"/>
              </a:ext>
            </a:extLst>
          </p:cNvPr>
          <p:cNvSpPr txBox="1"/>
          <p:nvPr/>
        </p:nvSpPr>
        <p:spPr>
          <a:xfrm>
            <a:off x="544706" y="3453854"/>
            <a:ext cx="5342189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机器与资本</a:t>
            </a:r>
            <a:r>
              <a:rPr lang="en-US" sz="1600" b="0" i="0" strike="noStrike" dirty="0" err="1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600" b="0" i="0" strike="noStrike" dirty="0" err="1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600" b="0" i="0" strike="noStrike" dirty="0">
                <a:solidFill>
                  <a:srgbClr val="0D100A">
                    <a:alpha val="87843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lang="en-US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902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90E57D-DBE3-D06C-23DE-FFB0BD0C4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身体重塑</a:t>
            </a:r>
            <a:r>
              <a:rPr lang="zh-CN" altLang="en-US" dirty="0"/>
              <a:t/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E34582-31F1-5F8D-068F-2B5964FDD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12192001" cy="656846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ED26E6A4-1578-8111-FA4A-2E8D650505AE}"/>
              </a:ext>
            </a:extLst>
          </p:cNvPr>
          <p:cNvSpPr/>
          <p:nvPr/>
        </p:nvSpPr>
        <p:spPr>
          <a:xfrm>
            <a:off x="-2" y="291541"/>
            <a:ext cx="180000" cy="1800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  <a:endParaRPr lang="zh-CN" altLang="en-US">
              <a:solidFill>
                <a:srgbClr val="1A3F6C"/>
              </a:solidFill>
            </a:endParaRP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35C9C14E-F23C-CA7D-DB6D-96BCE8A7B3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2674"/>
          <a:stretch>
            <a:fillRect/>
          </a:stretch>
        </p:blipFill>
        <p:spPr>
          <a:xfrm>
            <a:off x="660402" y="1226623"/>
            <a:ext cx="4749094" cy="466110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DBDAD05C-FB12-111C-9676-03EC1521929C}"/>
              </a:ext>
            </a:extLst>
          </p:cNvPr>
          <p:cNvSpPr txBox="1"/>
          <p:nvPr/>
        </p:nvSpPr>
        <p:spPr>
          <a:xfrm>
            <a:off x="6449419" y="1857377"/>
            <a:ext cx="5523120" cy="46828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b="0" i="1" strike="noStrike" dirty="0" err="1">
                <a:solidFill>
                  <a:srgbClr val="0D100A">
                    <a:alpha val="6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>从体外到神经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BD33C7D-A593-20C0-2336-C9B7C16C0EC7}"/>
              </a:ext>
            </a:extLst>
          </p:cNvPr>
          <p:cNvSpPr/>
          <p:nvPr/>
        </p:nvSpPr>
        <p:spPr>
          <a:xfrm>
            <a:off x="6449419" y="3057244"/>
            <a:ext cx="457086" cy="28575"/>
          </a:xfrm>
          <a:prstGeom prst="rect">
            <a:avLst/>
          </a:prstGeom>
          <a:solidFill>
            <a:srgbClr val="2F7B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5D07643-6838-98B8-A638-342F8C03B050}"/>
              </a:ext>
            </a:extLst>
          </p:cNvPr>
          <p:cNvSpPr txBox="1"/>
          <p:nvPr/>
        </p:nvSpPr>
        <p:spPr>
          <a:xfrm>
            <a:off x="6449419" y="3352520"/>
            <a:ext cx="20949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000" b="1" i="0" strike="noStrike" dirty="0">
                <a:solidFill>
                  <a:srgbClr val="2F7BFF">
                    <a:alpha val="54901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</a:rPr>
              <a:t>01</a:t>
            </a:r>
            <a:endParaRPr 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E8B6FF4-D14C-7DA0-C6C7-4896932982A6}"/>
              </a:ext>
            </a:extLst>
          </p:cNvPr>
          <p:cNvSpPr txBox="1"/>
          <p:nvPr/>
        </p:nvSpPr>
        <p:spPr>
          <a:xfrm>
            <a:off x="6792235" y="3272378"/>
            <a:ext cx="4965312" cy="46828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b="0" i="0" strike="noStrike" dirty="0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>人的意志</a:t>
            </a:r>
            <a:r>
              <a:rPr lang="en-US" b="0" i="0" strike="noStrike" dirty="0" err="1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/>
            </a:r>
            <a:r>
              <a:rPr lang="en-US" b="0" i="0" strike="noStrike" dirty="0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/>
            </a:r>
            <a:r>
              <a:rPr lang="en-US" b="0" i="0" strike="noStrike" dirty="0" err="1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/>
            </a:r>
            <a:r>
              <a:rPr lang="en-US" b="0" i="0" strike="noStrike" dirty="0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/>
            </a:r>
            <a:r>
              <a:rPr lang="en-US" b="0" i="0" strike="noStrike" dirty="0" err="1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/>
            </a:r>
            <a:r>
              <a:rPr b="0" i="0" strike="noStrike" dirty="0" err="1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/>
            </a:r>
            <a:r>
              <a:rPr b="0" i="0" strike="noStrike" dirty="0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/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6A3C8CE-9124-F53F-F93A-6C86278C384C}"/>
              </a:ext>
            </a:extLst>
          </p:cNvPr>
          <p:cNvSpPr txBox="1"/>
          <p:nvPr/>
        </p:nvSpPr>
        <p:spPr>
          <a:xfrm>
            <a:off x="6449417" y="4361668"/>
            <a:ext cx="209499" cy="63341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000" b="1" i="0" strike="noStrike" dirty="0">
                <a:solidFill>
                  <a:srgbClr val="2F7BFF">
                    <a:alpha val="54901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</a:rPr>
              <a:t>02</a:t>
            </a:r>
            <a:endParaRPr 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D60BBE0-C55A-E3D8-6FBC-25393B85E5B9}"/>
              </a:ext>
            </a:extLst>
          </p:cNvPr>
          <p:cNvSpPr txBox="1"/>
          <p:nvPr/>
        </p:nvSpPr>
        <p:spPr>
          <a:xfrm>
            <a:off x="6792234" y="4361668"/>
            <a:ext cx="5180305" cy="6334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b="0" i="0" strike="noStrike" dirty="0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>器官延伸</a:t>
            </a:r>
            <a:r>
              <a:rPr lang="en-US" b="0" i="0" strike="noStrike" dirty="0" err="1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/>
            </a:r>
            <a:r>
              <a:rPr b="0" i="0" strike="noStrike" dirty="0" err="1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/>
            </a:r>
            <a:r>
              <a:rPr b="0" i="0" strike="noStrike" dirty="0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/>
            </a:r>
            <a:r>
              <a:rPr b="0" i="0" strike="noStrike" dirty="0" err="1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/>
            </a:r>
            <a:r>
              <a:rPr b="0" i="0" strike="noStrike" dirty="0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/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3900E02-3A52-7CDE-D6D3-7C41EC950D13}"/>
              </a:ext>
            </a:extLst>
          </p:cNvPr>
          <p:cNvSpPr txBox="1"/>
          <p:nvPr/>
        </p:nvSpPr>
        <p:spPr>
          <a:xfrm>
            <a:off x="6449417" y="5531399"/>
            <a:ext cx="209499" cy="3563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000" b="1" i="0" strike="noStrike" dirty="0">
                <a:solidFill>
                  <a:srgbClr val="2F7BFF">
                    <a:alpha val="54901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Inter"/>
              </a:rPr>
              <a:t>03</a:t>
            </a:r>
            <a:endParaRPr lang="en-US" sz="11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9828137-C7D3-DC10-5D53-535731747C9C}"/>
              </a:ext>
            </a:extLst>
          </p:cNvPr>
          <p:cNvSpPr txBox="1"/>
          <p:nvPr/>
        </p:nvSpPr>
        <p:spPr>
          <a:xfrm>
            <a:off x="6792234" y="5418160"/>
            <a:ext cx="5180305" cy="98946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b="0" i="0" strike="noStrike" dirty="0" err="1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>神经接口</a:t>
            </a:r>
            <a:r>
              <a:rPr b="0" i="0" strike="noStrike" dirty="0" err="1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/>
            </a:r>
            <a:r>
              <a:rPr b="0" i="0" strike="noStrike" dirty="0">
                <a:solidFill>
                  <a:srgbClr val="0D100A">
                    <a:alpha val="87843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Source Han Sans"/>
              </a:rPr>
              <a:t/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1759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77E52-FD59-145E-324D-26BF25695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价值归宿</a:t>
            </a:r>
            <a:r>
              <a:rPr lang="zh-CN" altLang="en-US"/>
              <a:t/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BE4AF2-F648-914B-C78D-E3D9B08865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0"/>
            <a:ext cx="12192001" cy="656846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6A27727A-1A06-08FE-FDFB-B0E1B56B6A38}"/>
              </a:ext>
            </a:extLst>
          </p:cNvPr>
          <p:cNvSpPr/>
          <p:nvPr/>
        </p:nvSpPr>
        <p:spPr>
          <a:xfrm>
            <a:off x="-2" y="291541"/>
            <a:ext cx="180000" cy="1800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  <a:endParaRPr lang="zh-CN" altLang="en-US">
              <a:solidFill>
                <a:srgbClr val="1A3F6C"/>
              </a:solidFill>
            </a:endParaRPr>
          </a:p>
        </p:txBody>
      </p:sp>
      <p:pic>
        <p:nvPicPr>
          <p:cNvPr id="6" name="482eb723edaa2a729c6a819d89e6f87b">
            <a:hlinkClick r:id="" action="ppaction://media"/>
            <a:extLst>
              <a:ext uri="{FF2B5EF4-FFF2-40B4-BE49-F238E27FC236}">
                <a16:creationId xmlns:a16="http://schemas.microsoft.com/office/drawing/2014/main" id="{052CC48A-443A-2695-C419-D623717E3764}"/>
              </a:ext>
            </a:extLst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671955" y="1226185"/>
            <a:ext cx="8847455" cy="494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201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100000">
                <p:cTn id="7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785A6C-85D8-07FD-3820-36C808683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价值归宿</a:t>
            </a:r>
            <a:r>
              <a:rPr lang="zh-CN" altLang="en-US" dirty="0"/>
              <a:t/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C0F6EA0-3066-2584-D0BC-B58BBE5C6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12192001" cy="656846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644D1AFC-5B1A-65BC-67B0-1AA160454F75}"/>
              </a:ext>
            </a:extLst>
          </p:cNvPr>
          <p:cNvSpPr/>
          <p:nvPr/>
        </p:nvSpPr>
        <p:spPr>
          <a:xfrm>
            <a:off x="-2" y="291541"/>
            <a:ext cx="180000" cy="1800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874EEDA-0F92-28CE-BDF1-A2F8DBEEC03E}"/>
              </a:ext>
            </a:extLst>
          </p:cNvPr>
          <p:cNvSpPr txBox="1"/>
          <p:nvPr/>
        </p:nvSpPr>
        <p:spPr>
          <a:xfrm>
            <a:off x="761810" y="1307753"/>
            <a:ext cx="1066533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200" b="0" i="1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200" b="0" i="1" strike="noStrike" dirty="0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200" b="0" i="1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lang="en-US" sz="1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56F8F5F3-BF4E-2C8C-64E7-08784A4BE5AE}"/>
              </a:ext>
            </a:extLst>
          </p:cNvPr>
          <p:cNvSpPr/>
          <p:nvPr/>
        </p:nvSpPr>
        <p:spPr>
          <a:xfrm>
            <a:off x="761810" y="1667768"/>
            <a:ext cx="457086" cy="28575"/>
          </a:xfrm>
          <a:prstGeom prst="rect">
            <a:avLst/>
          </a:prstGeom>
          <a:solidFill>
            <a:srgbClr val="2F7BFF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EACD0C69-25DA-D459-179F-588932B73B49}"/>
              </a:ext>
            </a:extLst>
          </p:cNvPr>
          <p:cNvSpPr txBox="1"/>
          <p:nvPr/>
        </p:nvSpPr>
        <p:spPr>
          <a:xfrm>
            <a:off x="1018920" y="2639318"/>
            <a:ext cx="468512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恢复能力</a:t>
            </a:r>
            <a:r>
              <a:rPr lang="en-US" sz="1600" b="1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lang="en-US" sz="1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TextBox 13">
            <a:extLst>
              <a:ext uri="{FF2B5EF4-FFF2-40B4-BE49-F238E27FC236}">
                <a16:creationId xmlns:a16="http://schemas.microsoft.com/office/drawing/2014/main" id="{99F9AB4B-28A4-C168-974F-D2C80ADE006E}"/>
              </a:ext>
            </a:extLst>
          </p:cNvPr>
          <p:cNvSpPr txBox="1"/>
          <p:nvPr/>
        </p:nvSpPr>
        <p:spPr>
          <a:xfrm>
            <a:off x="1171282" y="3051721"/>
            <a:ext cx="4570857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行动沟通</a:t>
            </a:r>
            <a:r>
              <a:rPr sz="1600" b="0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0" strike="noStrike" dirty="0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36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2E0CB775-1AA6-327D-4902-867B7FE20EDC}"/>
              </a:ext>
            </a:extLst>
          </p:cNvPr>
          <p:cNvSpPr txBox="1"/>
          <p:nvPr/>
        </p:nvSpPr>
        <p:spPr>
          <a:xfrm>
            <a:off x="1171282" y="4032912"/>
            <a:ext cx="4532767" cy="50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社会参与</a:t>
            </a:r>
            <a:r>
              <a:rPr lang="en-US" sz="1600" b="0" i="0" strike="noStrike" dirty="0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600" b="0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0" strike="noStrike" dirty="0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36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FCFF22DA-BCC0-A218-3F15-42859B1249DE}"/>
              </a:ext>
            </a:extLst>
          </p:cNvPr>
          <p:cNvSpPr txBox="1"/>
          <p:nvPr/>
        </p:nvSpPr>
        <p:spPr>
          <a:xfrm>
            <a:off x="1171282" y="5063319"/>
            <a:ext cx="4532767" cy="64144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为谁所用</a:t>
            </a:r>
            <a:r>
              <a:rPr sz="1600" b="0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0" strike="noStrike" dirty="0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36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TextBox 20">
            <a:extLst>
              <a:ext uri="{FF2B5EF4-FFF2-40B4-BE49-F238E27FC236}">
                <a16:creationId xmlns:a16="http://schemas.microsoft.com/office/drawing/2014/main" id="{E68BCFB5-1BE3-B030-FD6B-342AA4325BF1}"/>
              </a:ext>
            </a:extLst>
          </p:cNvPr>
          <p:cNvSpPr txBox="1"/>
          <p:nvPr/>
        </p:nvSpPr>
        <p:spPr>
          <a:xfrm>
            <a:off x="6484903" y="2239268"/>
            <a:ext cx="4685129" cy="2952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100" b="1" i="0" strike="noStrike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lang="en-US" sz="11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TextBox 21">
            <a:extLst>
              <a:ext uri="{FF2B5EF4-FFF2-40B4-BE49-F238E27FC236}">
                <a16:creationId xmlns:a16="http://schemas.microsoft.com/office/drawing/2014/main" id="{DB9E0F29-D0F7-CF1B-79E1-21B9D61B699C}"/>
              </a:ext>
            </a:extLst>
          </p:cNvPr>
          <p:cNvSpPr txBox="1"/>
          <p:nvPr/>
        </p:nvSpPr>
        <p:spPr>
          <a:xfrm>
            <a:off x="6484903" y="2639318"/>
            <a:ext cx="4685129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300" b="1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全面发展</a:t>
            </a:r>
            <a:r>
              <a:rPr lang="en-US" sz="1600" b="1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lang="en-US" sz="1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TextBox 23">
            <a:extLst>
              <a:ext uri="{FF2B5EF4-FFF2-40B4-BE49-F238E27FC236}">
                <a16:creationId xmlns:a16="http://schemas.microsoft.com/office/drawing/2014/main" id="{00BF37FA-0BAD-F58E-75FD-CB7302FC3A71}"/>
              </a:ext>
            </a:extLst>
          </p:cNvPr>
          <p:cNvSpPr txBox="1"/>
          <p:nvPr/>
        </p:nvSpPr>
        <p:spPr>
          <a:xfrm>
            <a:off x="6637265" y="3051721"/>
            <a:ext cx="4532767" cy="67880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自由发展</a:t>
            </a:r>
            <a:r>
              <a:rPr lang="en-US" sz="1600" b="0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600" b="0" i="0" strike="noStrike" dirty="0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lang="en-US" sz="1600" b="0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0" strike="noStrike" dirty="0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36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972FE347-F905-9B2D-BD4E-40A215573D47}"/>
              </a:ext>
            </a:extLst>
          </p:cNvPr>
          <p:cNvSpPr txBox="1"/>
          <p:nvPr/>
        </p:nvSpPr>
        <p:spPr>
          <a:xfrm>
            <a:off x="6637265" y="4171503"/>
            <a:ext cx="4570857" cy="71439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满足需要</a:t>
            </a:r>
            <a:r>
              <a:rPr sz="1600" b="0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0" strike="noStrike" dirty="0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36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TextBox 27">
            <a:extLst>
              <a:ext uri="{FF2B5EF4-FFF2-40B4-BE49-F238E27FC236}">
                <a16:creationId xmlns:a16="http://schemas.microsoft.com/office/drawing/2014/main" id="{1A176BFE-117A-26A2-67CF-538BDC693C21}"/>
              </a:ext>
            </a:extLst>
          </p:cNvPr>
          <p:cNvSpPr txBox="1"/>
          <p:nvPr/>
        </p:nvSpPr>
        <p:spPr>
          <a:xfrm>
            <a:off x="6637265" y="5054352"/>
            <a:ext cx="4570857" cy="504974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普惠福祉</a:t>
            </a:r>
            <a:r>
              <a:rPr sz="1600" b="0" i="0" strike="noStrike" dirty="0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0" strike="noStrike" dirty="0" err="1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0" strike="noStrike" dirty="0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36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7F07599-CFEE-AE8F-8AA0-33395F595990}"/>
              </a:ext>
            </a:extLst>
          </p:cNvPr>
          <p:cNvSpPr txBox="1"/>
          <p:nvPr/>
        </p:nvSpPr>
        <p:spPr>
          <a:xfrm>
            <a:off x="1018920" y="2079442"/>
            <a:ext cx="62663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100" b="1" i="0" strike="noStrike" dirty="0">
                <a:solidFill>
                  <a:srgbClr val="0D100A">
                    <a:alpha val="100000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01</a:t>
            </a:r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972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E26EFC-753F-EBEC-7DD2-7677BF27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神经康复</a:t>
            </a:r>
            <a:r>
              <a:rPr lang="zh-CN" altLang="en-US" dirty="0"/>
              <a:t/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47E6D8E-B133-B418-929B-290E89571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12192001" cy="656846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4CE57853-5331-E9D8-B2DF-6111E1EA85E4}"/>
              </a:ext>
            </a:extLst>
          </p:cNvPr>
          <p:cNvSpPr/>
          <p:nvPr/>
        </p:nvSpPr>
        <p:spPr>
          <a:xfrm>
            <a:off x="-2" y="291541"/>
            <a:ext cx="180000" cy="1800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  <a:endParaRPr lang="zh-CN" altLang="en-US">
              <a:solidFill>
                <a:srgbClr val="1A3F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CB3A6FC2-C6DF-10B7-4A41-7BAE4744DBFA}"/>
              </a:ext>
            </a:extLst>
          </p:cNvPr>
          <p:cNvSpPr txBox="1"/>
          <p:nvPr/>
        </p:nvSpPr>
        <p:spPr>
          <a:xfrm>
            <a:off x="580880" y="132963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 dirty="0" err="1">
                <a:solidFill>
                  <a:srgbClr val="0A1F3D">
                    <a:alpha val="78039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功能重建</a:t>
            </a:r>
            <a:endParaRPr lang="en-US" sz="1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algn="l"/>
            <a:r>
              <a:rPr sz="1600" b="0" i="1" strike="noStrike" dirty="0" err="1">
                <a:solidFill>
                  <a:srgbClr val="0A1F3D">
                    <a:alpha val="78039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1" strike="noStrike" dirty="0">
                <a:solidFill>
                  <a:srgbClr val="0A1F3D">
                    <a:alpha val="78039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72B31477-B133-FAD1-E57A-299759897E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457086" y="2608809"/>
            <a:ext cx="4570857" cy="304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TextBox 9">
            <a:extLst>
              <a:ext uri="{FF2B5EF4-FFF2-40B4-BE49-F238E27FC236}">
                <a16:creationId xmlns:a16="http://schemas.microsoft.com/office/drawing/2014/main" id="{244F34D9-5A0E-53ED-9244-03C0D9EFDEE8}"/>
              </a:ext>
            </a:extLst>
          </p:cNvPr>
          <p:cNvSpPr txBox="1"/>
          <p:nvPr/>
        </p:nvSpPr>
        <p:spPr>
          <a:xfrm>
            <a:off x="457086" y="5752059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 dirty="0" err="1">
                <a:solidFill>
                  <a:srgbClr val="0A1F3D">
                    <a:alpha val="50196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意念控制</a:t>
            </a:r>
            <a:endParaRPr lang="en-US" sz="1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AutoShape 10">
            <a:extLst>
              <a:ext uri="{FF2B5EF4-FFF2-40B4-BE49-F238E27FC236}">
                <a16:creationId xmlns:a16="http://schemas.microsoft.com/office/drawing/2014/main" id="{1BA462B3-295C-52FB-9DF0-B5C36B9E1F9C}"/>
              </a:ext>
            </a:extLst>
          </p:cNvPr>
          <p:cNvSpPr/>
          <p:nvPr/>
        </p:nvSpPr>
        <p:spPr>
          <a:xfrm>
            <a:off x="5332666" y="2112466"/>
            <a:ext cx="6399200" cy="136594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46C1F9DC-AC7C-B068-017C-FF7ACB7B10D9}"/>
              </a:ext>
            </a:extLst>
          </p:cNvPr>
          <p:cNvSpPr txBox="1"/>
          <p:nvPr/>
        </p:nvSpPr>
        <p:spPr>
          <a:xfrm>
            <a:off x="5513596" y="2582168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000" b="0" i="0" strike="noStrike" dirty="0">
                <a:solidFill>
                  <a:srgbClr val="0A1F3D">
                    <a:alpha val="4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01</a:t>
            </a:r>
            <a:endParaRPr lang="en-US" sz="1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73F33EA0-3D90-9AE6-9D67-F630B70991C2}"/>
              </a:ext>
            </a:extLst>
          </p:cNvPr>
          <p:cNvSpPr txBox="1"/>
          <p:nvPr/>
        </p:nvSpPr>
        <p:spPr>
          <a:xfrm>
            <a:off x="5765648" y="2591693"/>
            <a:ext cx="5785288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b="1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恢复行动</a:t>
            </a:r>
            <a:r>
              <a:rPr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2" name="AutoShape 14">
            <a:extLst>
              <a:ext uri="{FF2B5EF4-FFF2-40B4-BE49-F238E27FC236}">
                <a16:creationId xmlns:a16="http://schemas.microsoft.com/office/drawing/2014/main" id="{2F7EF40B-B017-7377-35B3-A5F0D6B98707}"/>
              </a:ext>
            </a:extLst>
          </p:cNvPr>
          <p:cNvSpPr/>
          <p:nvPr/>
        </p:nvSpPr>
        <p:spPr>
          <a:xfrm>
            <a:off x="5332666" y="3573661"/>
            <a:ext cx="6399200" cy="136594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2E958CB0-A1F2-FE8B-6B8D-AFCEB89A5E68}"/>
              </a:ext>
            </a:extLst>
          </p:cNvPr>
          <p:cNvSpPr txBox="1"/>
          <p:nvPr/>
        </p:nvSpPr>
        <p:spPr>
          <a:xfrm>
            <a:off x="5513596" y="4043362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000" b="0" i="0" strike="noStrike" dirty="0">
                <a:solidFill>
                  <a:srgbClr val="0A1F3D">
                    <a:alpha val="4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02</a:t>
            </a:r>
            <a:endParaRPr lang="en-US" sz="1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4F26DECA-02BC-E57A-6539-0CA45035C8CF}"/>
              </a:ext>
            </a:extLst>
          </p:cNvPr>
          <p:cNvSpPr txBox="1"/>
          <p:nvPr/>
        </p:nvSpPr>
        <p:spPr>
          <a:xfrm>
            <a:off x="5765648" y="4052888"/>
            <a:ext cx="5785288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b="1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恢复沟通</a:t>
            </a:r>
            <a:r>
              <a:rPr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5" name="AutoShape 18">
            <a:extLst>
              <a:ext uri="{FF2B5EF4-FFF2-40B4-BE49-F238E27FC236}">
                <a16:creationId xmlns:a16="http://schemas.microsoft.com/office/drawing/2014/main" id="{721CF54E-7B0B-A570-B34C-E7E6600734DA}"/>
              </a:ext>
            </a:extLst>
          </p:cNvPr>
          <p:cNvSpPr/>
          <p:nvPr/>
        </p:nvSpPr>
        <p:spPr>
          <a:xfrm>
            <a:off x="5332666" y="5034855"/>
            <a:ext cx="6399200" cy="1365945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6" name="TextBox 20">
            <a:extLst>
              <a:ext uri="{FF2B5EF4-FFF2-40B4-BE49-F238E27FC236}">
                <a16:creationId xmlns:a16="http://schemas.microsoft.com/office/drawing/2014/main" id="{932D4386-1420-D608-8694-22DED7E6A2C1}"/>
              </a:ext>
            </a:extLst>
          </p:cNvPr>
          <p:cNvSpPr txBox="1"/>
          <p:nvPr/>
        </p:nvSpPr>
        <p:spPr>
          <a:xfrm>
            <a:off x="5513596" y="5504557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2000" b="0" i="0" strike="noStrike" dirty="0">
                <a:solidFill>
                  <a:srgbClr val="0A1F3D">
                    <a:alpha val="4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03</a:t>
            </a:r>
            <a:endParaRPr lang="en-US" sz="11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3495B4D3-A03B-085D-47D5-EB36EB96D178}"/>
              </a:ext>
            </a:extLst>
          </p:cNvPr>
          <p:cNvSpPr txBox="1"/>
          <p:nvPr/>
        </p:nvSpPr>
        <p:spPr>
          <a:xfrm>
            <a:off x="5765648" y="5514082"/>
            <a:ext cx="5785288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b="1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重获尊严</a:t>
            </a:r>
            <a:r>
              <a:rPr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898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363B4-0A7F-064A-182A-B9E384417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三类新矛盾</a:t>
            </a:r>
            <a:r>
              <a:rPr lang="zh-CN" altLang="en-US"/>
              <a:t/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4B0D17C-CB39-E616-9142-27E2D3240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12192001" cy="656846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35455EE8-03B3-3A7B-C008-514A76E5FBCF}"/>
              </a:ext>
            </a:extLst>
          </p:cNvPr>
          <p:cNvSpPr/>
          <p:nvPr/>
        </p:nvSpPr>
        <p:spPr>
          <a:xfrm>
            <a:off x="-2" y="291541"/>
            <a:ext cx="180000" cy="1800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  <a:endParaRPr lang="zh-CN" altLang="en-US">
              <a:solidFill>
                <a:srgbClr val="1A3F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E4B5765E-2190-30C5-373F-A6CE3F509106}"/>
              </a:ext>
            </a:extLst>
          </p:cNvPr>
          <p:cNvSpPr/>
          <p:nvPr/>
        </p:nvSpPr>
        <p:spPr>
          <a:xfrm>
            <a:off x="457086" y="13716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CC1E99-16CC-20D1-3685-0A9B34EE179F}"/>
              </a:ext>
            </a:extLst>
          </p:cNvPr>
          <p:cNvSpPr txBox="1"/>
          <p:nvPr/>
        </p:nvSpPr>
        <p:spPr>
          <a:xfrm>
            <a:off x="599925" y="140970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 dirty="0" err="1">
                <a:solidFill>
                  <a:srgbClr val="0A1F3D">
                    <a:alpha val="78039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>生产力≠普惠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600" b="0" i="1" strike="noStrike" dirty="0" err="1">
                <a:solidFill>
                  <a:srgbClr val="0A1F3D">
                    <a:alpha val="78039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r>
              <a:rPr sz="1600" b="0" i="1" strike="noStrike" dirty="0">
                <a:solidFill>
                  <a:srgbClr val="0A1F3D">
                    <a:alpha val="78039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8C8FAB13-E718-F825-807D-3907719CA7EF}"/>
              </a:ext>
            </a:extLst>
          </p:cNvPr>
          <p:cNvSpPr/>
          <p:nvPr/>
        </p:nvSpPr>
        <p:spPr>
          <a:xfrm>
            <a:off x="457086" y="2287786"/>
            <a:ext cx="3605799" cy="41130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9D167706-B7FA-4F43-90F6-24DA22B43260}"/>
              </a:ext>
            </a:extLst>
          </p:cNvPr>
          <p:cNvSpPr/>
          <p:nvPr/>
        </p:nvSpPr>
        <p:spPr>
          <a:xfrm>
            <a:off x="457086" y="228778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87135675-E4C5-2B05-5140-9A325C4524EC}"/>
              </a:ext>
            </a:extLst>
          </p:cNvPr>
          <p:cNvSpPr/>
          <p:nvPr/>
        </p:nvSpPr>
        <p:spPr>
          <a:xfrm>
            <a:off x="676106" y="25449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5499" y="5000"/>
                </a:moveTo>
                <a:lnTo>
                  <a:pt x="5499" y="5500"/>
                </a:lnTo>
                <a:lnTo>
                  <a:pt x="6999" y="5500"/>
                </a:lnTo>
                <a:lnTo>
                  <a:pt x="6999" y="6500"/>
                </a:lnTo>
                <a:lnTo>
                  <a:pt x="5499" y="6500"/>
                </a:lnTo>
                <a:lnTo>
                  <a:pt x="5499" y="7500"/>
                </a:lnTo>
                <a:lnTo>
                  <a:pt x="4499" y="7500"/>
                </a:lnTo>
                <a:lnTo>
                  <a:pt x="4499" y="6500"/>
                </a:lnTo>
                <a:lnTo>
                  <a:pt x="2999" y="6500"/>
                </a:lnTo>
                <a:lnTo>
                  <a:pt x="2999" y="5500"/>
                </a:lnTo>
                <a:lnTo>
                  <a:pt x="4499" y="5500"/>
                </a:lnTo>
                <a:lnTo>
                  <a:pt x="4499" y="5000"/>
                </a:lnTo>
                <a:lnTo>
                  <a:pt x="2999" y="5000"/>
                </a:lnTo>
                <a:lnTo>
                  <a:pt x="2999" y="4000"/>
                </a:lnTo>
                <a:lnTo>
                  <a:pt x="4289" y="4000"/>
                </a:lnTo>
                <a:lnTo>
                  <a:pt x="3229" y="2940"/>
                </a:lnTo>
                <a:lnTo>
                  <a:pt x="3939" y="2230"/>
                </a:lnTo>
                <a:lnTo>
                  <a:pt x="4999" y="3290"/>
                </a:lnTo>
                <a:lnTo>
                  <a:pt x="6059" y="2230"/>
                </a:lnTo>
                <a:lnTo>
                  <a:pt x="6769" y="2940"/>
                </a:lnTo>
                <a:lnTo>
                  <a:pt x="5709" y="4000"/>
                </a:lnTo>
                <a:lnTo>
                  <a:pt x="6999" y="4000"/>
                </a:lnTo>
                <a:lnTo>
                  <a:pt x="6999" y="5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0AB923-AF0D-8108-DF5F-70694116D8EC}"/>
              </a:ext>
            </a:extLst>
          </p:cNvPr>
          <p:cNvSpPr txBox="1"/>
          <p:nvPr/>
        </p:nvSpPr>
        <p:spPr>
          <a:xfrm>
            <a:off x="676106" y="3425279"/>
            <a:ext cx="316775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0A1F3D">
                    <a:alpha val="100000"/>
                  </a:srgbClr>
                </a:solidFill>
                <a:latin typeface="Arial" panose="020B0604020202020204" pitchFamily="34" charset="0"/>
                <a:ea typeface="FZShuSong-Z01"/>
                <a:cs typeface="Arial" panose="020B0604020202020204" pitchFamily="34" charset="0"/>
              </a:rPr>
              <a:t>成本分配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8B25C7-660C-711D-C600-DB0367EEAD92}"/>
              </a:ext>
            </a:extLst>
          </p:cNvPr>
          <p:cNvSpPr txBox="1"/>
          <p:nvPr/>
        </p:nvSpPr>
        <p:spPr>
          <a:xfrm>
            <a:off x="676106" y="3850034"/>
            <a:ext cx="3386779" cy="6057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>成本壁垒</a:t>
            </a:r>
            <a:r>
              <a:rPr sz="1400"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B2D889-D5BD-FA42-BDEE-DC15A2BC2A2E}"/>
              </a:ext>
            </a:extLst>
          </p:cNvPr>
          <p:cNvSpPr txBox="1"/>
          <p:nvPr/>
        </p:nvSpPr>
        <p:spPr>
          <a:xfrm>
            <a:off x="676106" y="4852094"/>
            <a:ext cx="3386779" cy="5962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r>
              <a:rPr sz="1400"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400"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toShape 13">
            <a:extLst>
              <a:ext uri="{FF2B5EF4-FFF2-40B4-BE49-F238E27FC236}">
                <a16:creationId xmlns:a16="http://schemas.microsoft.com/office/drawing/2014/main" id="{E38EA6AE-FE16-B646-F314-0106F4A3C5FD}"/>
              </a:ext>
            </a:extLst>
          </p:cNvPr>
          <p:cNvSpPr/>
          <p:nvPr/>
        </p:nvSpPr>
        <p:spPr>
          <a:xfrm>
            <a:off x="676106" y="5747445"/>
            <a:ext cx="3167758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A4876F-C9E9-BDAD-E2F2-8986CC6CFE68}"/>
              </a:ext>
            </a:extLst>
          </p:cNvPr>
          <p:cNvSpPr txBox="1"/>
          <p:nvPr/>
        </p:nvSpPr>
        <p:spPr>
          <a:xfrm>
            <a:off x="676106" y="5880795"/>
            <a:ext cx="3167758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5B8CB8">
                    <a:alpha val="100000"/>
                  </a:srgbClr>
                </a:solidFill>
                <a:latin typeface="Arial" panose="020B0604020202020204" pitchFamily="34" charset="0"/>
                <a:ea typeface="FZShuSong-Z01"/>
                <a:cs typeface="Arial" panose="020B0604020202020204" pitchFamily="34" charset="0"/>
              </a:rPr>
              <a:t/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utoShape 15">
            <a:extLst>
              <a:ext uri="{FF2B5EF4-FFF2-40B4-BE49-F238E27FC236}">
                <a16:creationId xmlns:a16="http://schemas.microsoft.com/office/drawing/2014/main" id="{426E6BAA-3FB2-6AAD-45E3-9771EE01595D}"/>
              </a:ext>
            </a:extLst>
          </p:cNvPr>
          <p:cNvSpPr/>
          <p:nvPr/>
        </p:nvSpPr>
        <p:spPr>
          <a:xfrm>
            <a:off x="4291428" y="2287786"/>
            <a:ext cx="3605948" cy="41130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7" name="AutoShape 16">
            <a:extLst>
              <a:ext uri="{FF2B5EF4-FFF2-40B4-BE49-F238E27FC236}">
                <a16:creationId xmlns:a16="http://schemas.microsoft.com/office/drawing/2014/main" id="{7144BD83-0DB6-F0BA-D2C0-47D193EDADAA}"/>
              </a:ext>
            </a:extLst>
          </p:cNvPr>
          <p:cNvSpPr/>
          <p:nvPr/>
        </p:nvSpPr>
        <p:spPr>
          <a:xfrm>
            <a:off x="4291428" y="2287786"/>
            <a:ext cx="3605948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8" name="AutoShape 17">
            <a:extLst>
              <a:ext uri="{FF2B5EF4-FFF2-40B4-BE49-F238E27FC236}">
                <a16:creationId xmlns:a16="http://schemas.microsoft.com/office/drawing/2014/main" id="{37E292D2-F0CD-462A-1033-84F75FCA529A}"/>
              </a:ext>
            </a:extLst>
          </p:cNvPr>
          <p:cNvSpPr/>
          <p:nvPr/>
        </p:nvSpPr>
        <p:spPr>
          <a:xfrm>
            <a:off x="4510448" y="25449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999" y="2727"/>
                </a:moveTo>
                <a:cubicBezTo>
                  <a:pt x="5199" y="2727"/>
                  <a:pt x="5384" y="2768"/>
                  <a:pt x="5554" y="2850"/>
                </a:cubicBezTo>
                <a:cubicBezTo>
                  <a:pt x="5724" y="2932"/>
                  <a:pt x="5860" y="3042"/>
                  <a:pt x="5960" y="3182"/>
                </a:cubicBezTo>
                <a:cubicBezTo>
                  <a:pt x="6060" y="3321"/>
                  <a:pt x="6110" y="3472"/>
                  <a:pt x="6110" y="3636"/>
                </a:cubicBezTo>
                <a:cubicBezTo>
                  <a:pt x="6110" y="3800"/>
                  <a:pt x="6060" y="3951"/>
                  <a:pt x="5960" y="4091"/>
                </a:cubicBezTo>
                <a:cubicBezTo>
                  <a:pt x="5860" y="4230"/>
                  <a:pt x="5724" y="4342"/>
                  <a:pt x="5554" y="4427"/>
                </a:cubicBezTo>
                <a:lnTo>
                  <a:pt x="5554" y="6364"/>
                </a:lnTo>
                <a:lnTo>
                  <a:pt x="4444" y="6364"/>
                </a:lnTo>
                <a:lnTo>
                  <a:pt x="4444" y="4427"/>
                </a:lnTo>
                <a:cubicBezTo>
                  <a:pt x="4273" y="4342"/>
                  <a:pt x="4138" y="4230"/>
                  <a:pt x="4038" y="4091"/>
                </a:cubicBezTo>
                <a:cubicBezTo>
                  <a:pt x="3938" y="3951"/>
                  <a:pt x="3888" y="3800"/>
                  <a:pt x="3888" y="3636"/>
                </a:cubicBezTo>
                <a:cubicBezTo>
                  <a:pt x="3888" y="3472"/>
                  <a:pt x="3938" y="3321"/>
                  <a:pt x="4038" y="3182"/>
                </a:cubicBezTo>
                <a:cubicBezTo>
                  <a:pt x="4138" y="3042"/>
                  <a:pt x="4273" y="2932"/>
                  <a:pt x="4444" y="2850"/>
                </a:cubicBezTo>
                <a:cubicBezTo>
                  <a:pt x="4614" y="2768"/>
                  <a:pt x="4799" y="2727"/>
                  <a:pt x="4999" y="2727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FC4ED0-79B2-AED2-3E6C-4445092F3B3F}"/>
              </a:ext>
            </a:extLst>
          </p:cNvPr>
          <p:cNvSpPr txBox="1"/>
          <p:nvPr/>
        </p:nvSpPr>
        <p:spPr>
          <a:xfrm>
            <a:off x="4510448" y="3425279"/>
            <a:ext cx="3167907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0A1F3D">
                    <a:alpha val="100000"/>
                  </a:srgbClr>
                </a:solidFill>
                <a:latin typeface="Arial" panose="020B0604020202020204" pitchFamily="34" charset="0"/>
                <a:ea typeface="FZShuSong-Z01"/>
                <a:cs typeface="Arial" panose="020B0604020202020204" pitchFamily="34" charset="0"/>
              </a:rPr>
              <a:t>神经数据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068B93-B618-3F53-9393-837277030EC7}"/>
              </a:ext>
            </a:extLst>
          </p:cNvPr>
          <p:cNvSpPr txBox="1"/>
          <p:nvPr/>
        </p:nvSpPr>
        <p:spPr>
          <a:xfrm>
            <a:off x="4510448" y="3850034"/>
            <a:ext cx="3386927" cy="6057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>隐私风险</a:t>
            </a:r>
            <a:r>
              <a:rPr sz="1400"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AC6B93-3041-197E-170C-726F077FCC24}"/>
              </a:ext>
            </a:extLst>
          </p:cNvPr>
          <p:cNvSpPr txBox="1"/>
          <p:nvPr/>
        </p:nvSpPr>
        <p:spPr>
          <a:xfrm>
            <a:off x="4510448" y="4625280"/>
            <a:ext cx="3386927" cy="6057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r>
              <a:rPr sz="1400"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AutoShape 21">
            <a:extLst>
              <a:ext uri="{FF2B5EF4-FFF2-40B4-BE49-F238E27FC236}">
                <a16:creationId xmlns:a16="http://schemas.microsoft.com/office/drawing/2014/main" id="{9D1A911C-506A-939C-0169-376BF92EDA36}"/>
              </a:ext>
            </a:extLst>
          </p:cNvPr>
          <p:cNvSpPr/>
          <p:nvPr/>
        </p:nvSpPr>
        <p:spPr>
          <a:xfrm>
            <a:off x="4510448" y="5747445"/>
            <a:ext cx="3167907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C09E94-FD27-16C4-6194-C346978205BE}"/>
              </a:ext>
            </a:extLst>
          </p:cNvPr>
          <p:cNvSpPr txBox="1"/>
          <p:nvPr/>
        </p:nvSpPr>
        <p:spPr>
          <a:xfrm>
            <a:off x="4510448" y="5880795"/>
            <a:ext cx="3167907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5B8CB8">
                    <a:alpha val="100000"/>
                  </a:srgbClr>
                </a:solidFill>
                <a:latin typeface="Arial" panose="020B0604020202020204" pitchFamily="34" charset="0"/>
                <a:ea typeface="FZShuSong-Z01"/>
                <a:cs typeface="Arial" panose="020B0604020202020204" pitchFamily="34" charset="0"/>
              </a:rPr>
              <a:t/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AutoShape 23">
            <a:extLst>
              <a:ext uri="{FF2B5EF4-FFF2-40B4-BE49-F238E27FC236}">
                <a16:creationId xmlns:a16="http://schemas.microsoft.com/office/drawing/2014/main" id="{89B62A70-E84C-67F1-0025-6150CCB4CB21}"/>
              </a:ext>
            </a:extLst>
          </p:cNvPr>
          <p:cNvSpPr/>
          <p:nvPr/>
        </p:nvSpPr>
        <p:spPr>
          <a:xfrm>
            <a:off x="8125918" y="2287786"/>
            <a:ext cx="3605799" cy="41130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25" name="AutoShape 24">
            <a:extLst>
              <a:ext uri="{FF2B5EF4-FFF2-40B4-BE49-F238E27FC236}">
                <a16:creationId xmlns:a16="http://schemas.microsoft.com/office/drawing/2014/main" id="{AB15D222-A0DD-3FD6-75C1-2C82FD77C648}"/>
              </a:ext>
            </a:extLst>
          </p:cNvPr>
          <p:cNvSpPr/>
          <p:nvPr/>
        </p:nvSpPr>
        <p:spPr>
          <a:xfrm>
            <a:off x="8125918" y="2287786"/>
            <a:ext cx="360579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26" name="AutoShape 25">
            <a:extLst>
              <a:ext uri="{FF2B5EF4-FFF2-40B4-BE49-F238E27FC236}">
                <a16:creationId xmlns:a16="http://schemas.microsoft.com/office/drawing/2014/main" id="{6A55C74C-C5BD-C020-09DF-AE7653778E43}"/>
              </a:ext>
            </a:extLst>
          </p:cNvPr>
          <p:cNvSpPr/>
          <p:nvPr/>
        </p:nvSpPr>
        <p:spPr>
          <a:xfrm>
            <a:off x="8344939" y="2544961"/>
            <a:ext cx="418996" cy="419100"/>
          </a:xfrm>
          <a:custGeom>
            <a:avLst/>
            <a:gdLst/>
            <a:ahLst/>
            <a:cxnLst/>
            <a:rect l="l" t="t" r="r" b="b"/>
            <a:pathLst>
              <a:path w="9998" h="10000">
                <a:moveTo>
                  <a:pt x="7700" y="6915"/>
                </a:moveTo>
                <a:lnTo>
                  <a:pt x="7800" y="7000"/>
                </a:lnTo>
                <a:lnTo>
                  <a:pt x="7900" y="6915"/>
                </a:lnTo>
                <a:cubicBezTo>
                  <a:pt x="8056" y="6777"/>
                  <a:pt x="8241" y="6684"/>
                  <a:pt x="8457" y="6637"/>
                </a:cubicBezTo>
                <a:cubicBezTo>
                  <a:pt x="8672" y="6589"/>
                  <a:pt x="8887" y="6589"/>
                  <a:pt x="9102" y="6637"/>
                </a:cubicBezTo>
                <a:cubicBezTo>
                  <a:pt x="9317" y="6684"/>
                  <a:pt x="9506" y="6777"/>
                  <a:pt x="9670" y="6915"/>
                </a:cubicBezTo>
                <a:cubicBezTo>
                  <a:pt x="9833" y="7053"/>
                  <a:pt x="9942" y="7214"/>
                  <a:pt x="9998" y="7396"/>
                </a:cubicBezTo>
                <a:cubicBezTo>
                  <a:pt x="10053" y="7578"/>
                  <a:pt x="10053" y="7759"/>
                  <a:pt x="9998" y="7939"/>
                </a:cubicBezTo>
                <a:cubicBezTo>
                  <a:pt x="9942" y="8118"/>
                  <a:pt x="9833" y="8277"/>
                  <a:pt x="9670" y="8415"/>
                </a:cubicBezTo>
                <a:lnTo>
                  <a:pt x="7800" y="10000"/>
                </a:lnTo>
                <a:lnTo>
                  <a:pt x="5931" y="8415"/>
                </a:lnTo>
                <a:cubicBezTo>
                  <a:pt x="5767" y="8277"/>
                  <a:pt x="5658" y="8118"/>
                  <a:pt x="5603" y="7939"/>
                </a:cubicBezTo>
                <a:cubicBezTo>
                  <a:pt x="5547" y="7759"/>
                  <a:pt x="5547" y="7578"/>
                  <a:pt x="5603" y="7396"/>
                </a:cubicBezTo>
                <a:cubicBezTo>
                  <a:pt x="5658" y="7214"/>
                  <a:pt x="5767" y="7053"/>
                  <a:pt x="5931" y="6915"/>
                </a:cubicBezTo>
                <a:cubicBezTo>
                  <a:pt x="6094" y="6777"/>
                  <a:pt x="6283" y="6684"/>
                  <a:pt x="6498" y="6637"/>
                </a:cubicBezTo>
                <a:cubicBezTo>
                  <a:pt x="6713" y="6589"/>
                  <a:pt x="6928" y="6589"/>
                  <a:pt x="7144" y="6637"/>
                </a:cubicBezTo>
                <a:cubicBezTo>
                  <a:pt x="7359" y="6684"/>
                  <a:pt x="7544" y="6777"/>
                  <a:pt x="7700" y="6915"/>
                </a:cubicBezTo>
                <a:moveTo>
                  <a:pt x="4317" y="6132"/>
                </a:moveTo>
                <a:lnTo>
                  <a:pt x="4451" y="6132"/>
                </a:lnTo>
                <a:lnTo>
                  <a:pt x="4451" y="7075"/>
                </a:lnTo>
                <a:cubicBezTo>
                  <a:pt x="3850" y="7075"/>
                  <a:pt x="3290" y="7204"/>
                  <a:pt x="2771" y="7462"/>
                </a:cubicBezTo>
                <a:cubicBezTo>
                  <a:pt x="2266" y="7714"/>
                  <a:pt x="1865" y="8053"/>
                  <a:pt x="1569" y="8481"/>
                </a:cubicBezTo>
                <a:cubicBezTo>
                  <a:pt x="1265" y="8921"/>
                  <a:pt x="1113" y="9396"/>
                  <a:pt x="1113" y="9906"/>
                </a:cubicBezTo>
                <a:lnTo>
                  <a:pt x="0" y="9906"/>
                </a:lnTo>
                <a:cubicBezTo>
                  <a:pt x="0" y="9232"/>
                  <a:pt x="196" y="8606"/>
                  <a:pt x="590" y="8028"/>
                </a:cubicBezTo>
                <a:cubicBezTo>
                  <a:pt x="968" y="7468"/>
                  <a:pt x="1483" y="7022"/>
                  <a:pt x="2136" y="6689"/>
                </a:cubicBezTo>
                <a:cubicBezTo>
                  <a:pt x="2804" y="6336"/>
                  <a:pt x="3531" y="6150"/>
                  <a:pt x="4317" y="6132"/>
                </a:cubicBezTo>
                <a:moveTo>
                  <a:pt x="4329" y="0"/>
                </a:moveTo>
                <a:lnTo>
                  <a:pt x="4451" y="0"/>
                </a:lnTo>
                <a:cubicBezTo>
                  <a:pt x="5059" y="0"/>
                  <a:pt x="5622" y="129"/>
                  <a:pt x="6142" y="387"/>
                </a:cubicBezTo>
                <a:cubicBezTo>
                  <a:pt x="6639" y="638"/>
                  <a:pt x="7036" y="978"/>
                  <a:pt x="7333" y="1406"/>
                </a:cubicBezTo>
                <a:cubicBezTo>
                  <a:pt x="7637" y="1840"/>
                  <a:pt x="7789" y="2311"/>
                  <a:pt x="7789" y="2821"/>
                </a:cubicBezTo>
                <a:cubicBezTo>
                  <a:pt x="7789" y="3330"/>
                  <a:pt x="7644" y="3798"/>
                  <a:pt x="7355" y="4226"/>
                </a:cubicBezTo>
                <a:cubicBezTo>
                  <a:pt x="7073" y="4647"/>
                  <a:pt x="6685" y="4987"/>
                  <a:pt x="6192" y="5245"/>
                </a:cubicBezTo>
                <a:cubicBezTo>
                  <a:pt x="5698" y="5503"/>
                  <a:pt x="5159" y="5641"/>
                  <a:pt x="4573" y="5660"/>
                </a:cubicBezTo>
                <a:lnTo>
                  <a:pt x="4451" y="5660"/>
                </a:lnTo>
                <a:cubicBezTo>
                  <a:pt x="3850" y="5660"/>
                  <a:pt x="3290" y="5531"/>
                  <a:pt x="2771" y="5274"/>
                </a:cubicBezTo>
                <a:cubicBezTo>
                  <a:pt x="2266" y="5022"/>
                  <a:pt x="1865" y="4682"/>
                  <a:pt x="1569" y="4255"/>
                </a:cubicBezTo>
                <a:cubicBezTo>
                  <a:pt x="1265" y="3821"/>
                  <a:pt x="1113" y="3349"/>
                  <a:pt x="1113" y="2840"/>
                </a:cubicBezTo>
                <a:cubicBezTo>
                  <a:pt x="1113" y="2330"/>
                  <a:pt x="1257" y="1861"/>
                  <a:pt x="1547" y="1434"/>
                </a:cubicBezTo>
                <a:cubicBezTo>
                  <a:pt x="1829" y="1012"/>
                  <a:pt x="2216" y="673"/>
                  <a:pt x="2710" y="415"/>
                </a:cubicBezTo>
                <a:cubicBezTo>
                  <a:pt x="3203" y="157"/>
                  <a:pt x="3743" y="18"/>
                  <a:pt x="4329" y="0"/>
                </a:cubicBezTo>
                <a:moveTo>
                  <a:pt x="4451" y="943"/>
                </a:moveTo>
                <a:cubicBezTo>
                  <a:pt x="4050" y="943"/>
                  <a:pt x="3679" y="1028"/>
                  <a:pt x="3338" y="1198"/>
                </a:cubicBezTo>
                <a:cubicBezTo>
                  <a:pt x="2996" y="1368"/>
                  <a:pt x="2726" y="1597"/>
                  <a:pt x="2526" y="1887"/>
                </a:cubicBezTo>
                <a:cubicBezTo>
                  <a:pt x="2325" y="2176"/>
                  <a:pt x="2225" y="2490"/>
                  <a:pt x="2225" y="2830"/>
                </a:cubicBezTo>
                <a:cubicBezTo>
                  <a:pt x="2225" y="3170"/>
                  <a:pt x="2325" y="3484"/>
                  <a:pt x="2526" y="3774"/>
                </a:cubicBezTo>
                <a:cubicBezTo>
                  <a:pt x="2726" y="4063"/>
                  <a:pt x="2996" y="4292"/>
                  <a:pt x="3338" y="4462"/>
                </a:cubicBezTo>
                <a:cubicBezTo>
                  <a:pt x="3679" y="4632"/>
                  <a:pt x="4050" y="4717"/>
                  <a:pt x="4451" y="4717"/>
                </a:cubicBezTo>
                <a:cubicBezTo>
                  <a:pt x="4851" y="4717"/>
                  <a:pt x="5222" y="4632"/>
                  <a:pt x="5564" y="4462"/>
                </a:cubicBezTo>
                <a:cubicBezTo>
                  <a:pt x="5905" y="4292"/>
                  <a:pt x="6176" y="4063"/>
                  <a:pt x="6376" y="3774"/>
                </a:cubicBezTo>
                <a:cubicBezTo>
                  <a:pt x="6576" y="3484"/>
                  <a:pt x="6676" y="3170"/>
                  <a:pt x="6676" y="2830"/>
                </a:cubicBezTo>
                <a:cubicBezTo>
                  <a:pt x="6676" y="2490"/>
                  <a:pt x="6576" y="2176"/>
                  <a:pt x="6376" y="1887"/>
                </a:cubicBezTo>
                <a:cubicBezTo>
                  <a:pt x="6176" y="1597"/>
                  <a:pt x="5905" y="1368"/>
                  <a:pt x="5564" y="1198"/>
                </a:cubicBezTo>
                <a:cubicBezTo>
                  <a:pt x="5222" y="1028"/>
                  <a:pt x="4851" y="943"/>
                  <a:pt x="4451" y="943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7AE452-C7EF-EE9B-7884-25DAE9F49CCE}"/>
              </a:ext>
            </a:extLst>
          </p:cNvPr>
          <p:cNvSpPr txBox="1"/>
          <p:nvPr/>
        </p:nvSpPr>
        <p:spPr>
          <a:xfrm>
            <a:off x="8344939" y="3425279"/>
            <a:ext cx="316775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>
                <a:solidFill>
                  <a:srgbClr val="0A1F3D">
                    <a:alpha val="100000"/>
                  </a:srgbClr>
                </a:solidFill>
                <a:latin typeface="Arial" panose="020B0604020202020204" pitchFamily="34" charset="0"/>
                <a:ea typeface="FZShuSong-Z01"/>
                <a:cs typeface="Arial" panose="020B0604020202020204" pitchFamily="34" charset="0"/>
              </a:rPr>
              <a:t>人体伦理</a:t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03C274B-D676-96BA-AA82-DC96BFEAFF97}"/>
              </a:ext>
            </a:extLst>
          </p:cNvPr>
          <p:cNvSpPr txBox="1"/>
          <p:nvPr/>
        </p:nvSpPr>
        <p:spPr>
          <a:xfrm>
            <a:off x="8344939" y="3850034"/>
            <a:ext cx="3386779" cy="6057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>身体自主</a:t>
            </a:r>
            <a:r>
              <a:rPr sz="1400"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00075D-3DE3-B336-09AE-925E0C983516}"/>
              </a:ext>
            </a:extLst>
          </p:cNvPr>
          <p:cNvSpPr txBox="1"/>
          <p:nvPr/>
        </p:nvSpPr>
        <p:spPr>
          <a:xfrm>
            <a:off x="8344939" y="4625280"/>
            <a:ext cx="3386779" cy="60573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400" b="0" i="0" strike="noStrike" dirty="0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r>
              <a:rPr sz="1400" b="0" i="0" strike="noStrike" dirty="0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endParaRPr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AutoShape 29">
            <a:extLst>
              <a:ext uri="{FF2B5EF4-FFF2-40B4-BE49-F238E27FC236}">
                <a16:creationId xmlns:a16="http://schemas.microsoft.com/office/drawing/2014/main" id="{733D04BE-D7B8-09DB-5807-36D3AB52BAF9}"/>
              </a:ext>
            </a:extLst>
          </p:cNvPr>
          <p:cNvSpPr/>
          <p:nvPr/>
        </p:nvSpPr>
        <p:spPr>
          <a:xfrm>
            <a:off x="8344939" y="5747445"/>
            <a:ext cx="3167758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AEF959-6BE2-1955-EB9F-A96DD2390A92}"/>
              </a:ext>
            </a:extLst>
          </p:cNvPr>
          <p:cNvSpPr txBox="1"/>
          <p:nvPr/>
        </p:nvSpPr>
        <p:spPr>
          <a:xfrm>
            <a:off x="8344939" y="5880795"/>
            <a:ext cx="3167758" cy="27622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1900" b="0" i="0" strike="noStrike">
                <a:solidFill>
                  <a:srgbClr val="5B8CB8">
                    <a:alpha val="100000"/>
                  </a:srgbClr>
                </a:solidFill>
                <a:latin typeface="Arial" panose="020B0604020202020204" pitchFamily="34" charset="0"/>
                <a:ea typeface="FZShuSong-Z01"/>
                <a:cs typeface="Arial" panose="020B0604020202020204" pitchFamily="34" charset="0"/>
              </a:rPr>
              <a:t/>
            </a:r>
            <a:endParaRPr 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384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58150-A6F2-34F1-5CCF-7361BFCA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谁掌控技术？</a:t>
            </a:r>
            <a:r>
              <a:rPr lang="zh-CN" altLang="en-US"/>
              <a:t/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7AFC13F-3346-E870-3FC3-360344EC3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0"/>
            <a:ext cx="12192001" cy="656846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54F9E21F-434E-BA87-2D02-F456AAA6678F}"/>
              </a:ext>
            </a:extLst>
          </p:cNvPr>
          <p:cNvSpPr/>
          <p:nvPr/>
        </p:nvSpPr>
        <p:spPr>
          <a:xfrm>
            <a:off x="-2" y="291541"/>
            <a:ext cx="180000" cy="1800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  <a:endParaRPr lang="zh-CN" altLang="en-US">
              <a:solidFill>
                <a:srgbClr val="1A3F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C7586332-45F6-29D1-8237-F2756CB9CC73}"/>
              </a:ext>
            </a:extLst>
          </p:cNvPr>
          <p:cNvSpPr/>
          <p:nvPr/>
        </p:nvSpPr>
        <p:spPr>
          <a:xfrm>
            <a:off x="457086" y="131058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r>
              <a:t/>
            </a:r>
            <a:endParaRPr lang="zh-CN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8325CE-4803-CFBA-E415-97F0C19FCE6A}"/>
              </a:ext>
            </a:extLst>
          </p:cNvPr>
          <p:cNvSpPr txBox="1"/>
          <p:nvPr/>
        </p:nvSpPr>
        <p:spPr>
          <a:xfrm>
            <a:off x="580880" y="134868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0" i="1" strike="noStrike" dirty="0" err="1">
                <a:solidFill>
                  <a:srgbClr val="0A1F3D">
                    <a:alpha val="78039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>技术非中性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sz="1600" b="0" i="1" strike="noStrike" dirty="0">
                <a:solidFill>
                  <a:srgbClr val="0A1F3D">
                    <a:alpha val="78039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r>
              <a:rPr sz="1600" b="0" i="1" strike="noStrike" dirty="0" err="1">
                <a:solidFill>
                  <a:srgbClr val="0A1F3D">
                    <a:alpha val="78039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r>
              <a:rPr sz="1600" b="0" i="1" strike="noStrike" dirty="0">
                <a:solidFill>
                  <a:srgbClr val="0A1F3D">
                    <a:alpha val="78039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r>
              <a:rPr sz="1600" b="0" i="1" strike="noStrike" dirty="0" err="1">
                <a:solidFill>
                  <a:srgbClr val="0A1F3D">
                    <a:alpha val="78039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r>
              <a:rPr sz="1600" b="0" i="1" strike="noStrike" dirty="0">
                <a:solidFill>
                  <a:srgbClr val="0A1F3D">
                    <a:alpha val="78039"/>
                  </a:srgbClr>
                </a:solidFill>
                <a:latin typeface="Arial" panose="020B0604020202020204" pitchFamily="34" charset="0"/>
                <a:ea typeface="FZYaYiHei GB18030L2 R"/>
                <a:cs typeface="Arial" panose="020B0604020202020204" pitchFamily="34" charset="0"/>
              </a:rPr>
              <a:t/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32FED5-406A-5BB3-C039-84DA363241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" b="24"/>
          <a:stretch>
            <a:fillRect/>
          </a:stretch>
        </p:blipFill>
        <p:spPr>
          <a:xfrm>
            <a:off x="457086" y="2627859"/>
            <a:ext cx="4570857" cy="304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C7A751-483A-465C-7201-624E702C358B}"/>
              </a:ext>
            </a:extLst>
          </p:cNvPr>
          <p:cNvSpPr txBox="1"/>
          <p:nvPr/>
        </p:nvSpPr>
        <p:spPr>
          <a:xfrm>
            <a:off x="457086" y="5771109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sz="900" b="0" i="0" strike="noStrike">
                <a:solidFill>
                  <a:srgbClr val="0A1F3D">
                    <a:alpha val="50196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伦理治理</a:t>
            </a:r>
            <a:endParaRPr lang="en-US" sz="11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1793C8-CB98-22F7-2B6D-9C81159464CC}"/>
              </a:ext>
            </a:extLst>
          </p:cNvPr>
          <p:cNvSpPr txBox="1"/>
          <p:nvPr/>
        </p:nvSpPr>
        <p:spPr>
          <a:xfrm>
            <a:off x="5485028" y="2435722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b="0" i="0" strike="noStrike" dirty="0">
                <a:solidFill>
                  <a:srgbClr val="0A1F3D">
                    <a:alpha val="45098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01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80631-7923-5D78-0560-E6D2739681CA}"/>
              </a:ext>
            </a:extLst>
          </p:cNvPr>
          <p:cNvSpPr txBox="1"/>
          <p:nvPr/>
        </p:nvSpPr>
        <p:spPr>
          <a:xfrm>
            <a:off x="5737080" y="2454772"/>
            <a:ext cx="5842424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 dirty="0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主体性</a:t>
            </a:r>
            <a:r>
              <a:rPr sz="1600" b="0" i="0" strike="noStrike" dirty="0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E6D0F0-A288-D9F8-E0BA-D57A4F88A710}"/>
              </a:ext>
            </a:extLst>
          </p:cNvPr>
          <p:cNvSpPr txBox="1"/>
          <p:nvPr/>
        </p:nvSpPr>
        <p:spPr>
          <a:xfrm>
            <a:off x="5485028" y="3898553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b="0" i="0" strike="noStrike" dirty="0">
                <a:solidFill>
                  <a:srgbClr val="0A1F3D">
                    <a:alpha val="45098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02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7F5C03-BC43-A4CF-ED8F-71DB62A912F6}"/>
              </a:ext>
            </a:extLst>
          </p:cNvPr>
          <p:cNvSpPr txBox="1"/>
          <p:nvPr/>
        </p:nvSpPr>
        <p:spPr>
          <a:xfrm>
            <a:off x="5737080" y="3917603"/>
            <a:ext cx="5842424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sz="1600" b="1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制度规范</a:t>
            </a:r>
            <a:r>
              <a:rPr sz="1600"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0" strike="noStrike" dirty="0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0" strike="noStrike" dirty="0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sz="1600" b="0" i="0" strike="noStrike" dirty="0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E56088-2467-FF41-0A4E-9D33F74580C2}"/>
              </a:ext>
            </a:extLst>
          </p:cNvPr>
          <p:cNvSpPr txBox="1"/>
          <p:nvPr/>
        </p:nvSpPr>
        <p:spPr>
          <a:xfrm>
            <a:off x="5485028" y="5332810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0"/>
          <a:lstStyle/>
          <a:p>
            <a:pPr algn="l">
              <a:defRPr/>
            </a:pPr>
            <a:r>
              <a:rPr lang="en-US" b="0" i="0" strike="noStrike" dirty="0">
                <a:solidFill>
                  <a:srgbClr val="0A1F3D">
                    <a:alpha val="45098"/>
                  </a:srgbClr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</a:rPr>
              <a:t>03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DA85F1-DEBA-8EB0-D5BC-C1488646C60D}"/>
              </a:ext>
            </a:extLst>
          </p:cNvPr>
          <p:cNvSpPr txBox="1"/>
          <p:nvPr/>
        </p:nvSpPr>
        <p:spPr>
          <a:xfrm>
            <a:off x="5737080" y="5351860"/>
            <a:ext cx="5842424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0"/>
          <a:lstStyle/>
          <a:p>
            <a:pPr algn="l">
              <a:defRPr/>
            </a:pPr>
            <a:r>
              <a:rPr lang="en-US" b="1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服务于人</a:t>
            </a:r>
            <a:r>
              <a:rPr b="0" i="0" strike="noStrike" dirty="0" err="1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r>
              <a:rPr b="0" i="0" strike="noStrike" dirty="0">
                <a:solidFill>
                  <a:srgbClr val="0A1F3D">
                    <a:alpha val="85098"/>
                  </a:srgbClr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/>
            </a:r>
            <a:endParaRPr sz="28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341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76222-2B48-4E25-FA4C-BEE035C77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从矛盾到治理</a:t>
            </a:r>
            <a:r>
              <a:rPr lang="zh-CN" altLang="en-US"/>
              <a:t/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2406089-F6E8-F5C6-3C8D-BBC13006C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" y="0"/>
            <a:ext cx="12192001" cy="656846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66443A26-591B-E3EB-0A66-51792DD39B5B}"/>
              </a:ext>
            </a:extLst>
          </p:cNvPr>
          <p:cNvSpPr/>
          <p:nvPr/>
        </p:nvSpPr>
        <p:spPr>
          <a:xfrm>
            <a:off x="-2" y="291541"/>
            <a:ext cx="180000" cy="180000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/>
            </a:r>
            <a:endParaRPr lang="zh-CN" altLang="en-US">
              <a:solidFill>
                <a:srgbClr val="1A3F6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d09cad265f0130d47bebeccc8b7d9ca9">
            <a:hlinkClick r:id="" action="ppaction://media"/>
            <a:extLst>
              <a:ext uri="{FF2B5EF4-FFF2-40B4-BE49-F238E27FC236}">
                <a16:creationId xmlns:a16="http://schemas.microsoft.com/office/drawing/2014/main" id="{7E367DD4-329C-39F7-EA72-5156E1B14DBB}"/>
              </a:ext>
            </a:extLst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699260" y="1087755"/>
            <a:ext cx="8792845" cy="529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133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>
                <p:cTn id="7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7DA9C94-A797-EFB7-28E5-6B3E3D3CE919}"/>
              </a:ext>
            </a:extLst>
          </p:cNvPr>
          <p:cNvSpPr txBox="1"/>
          <p:nvPr/>
        </p:nvSpPr>
        <p:spPr>
          <a:xfrm>
            <a:off x="3494201" y="3429000"/>
            <a:ext cx="6094206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技术服务于人
守住伦理底线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/>
            </a:r>
            <a:endParaRPr lang="zh-CN" altLang="zh-CN" sz="12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3AA952-1D76-A5D5-A203-4FE3BA933D2A}"/>
              </a:ext>
            </a:extLst>
          </p:cNvPr>
          <p:cNvSpPr txBox="1"/>
          <p:nvPr/>
        </p:nvSpPr>
        <p:spPr>
          <a:xfrm>
            <a:off x="3048897" y="5879054"/>
            <a:ext cx="60942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altLang="zh-CN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第四组</a:t>
            </a:r>
            <a:r>
              <a:rPr lang="zh-CN" altLang="en-US" sz="3600" b="1" dirty="0"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endParaRPr lang="zh-CN" altLang="zh-CN" sz="3600" b="1" dirty="0"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282A65D-82EA-8E9E-E8FD-4D1E9BA69A57}"/>
              </a:ext>
            </a:extLst>
          </p:cNvPr>
          <p:cNvSpPr txBox="1"/>
          <p:nvPr/>
        </p:nvSpPr>
        <p:spPr>
          <a:xfrm>
            <a:off x="1367476" y="1408551"/>
            <a:ext cx="9066723" cy="148947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0" tIns="0" rIns="0" bIns="0" rtlCol="0" anchor="t" anchorCtr="1"/>
          <a:lstStyle/>
          <a:p>
            <a:pPr algn="ctr">
              <a:defRPr/>
            </a:pPr>
            <a:r>
              <a:rPr lang="en-US" sz="4400" b="1" dirty="0" err="1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科技向善
全面发展</a:t>
            </a:r>
            <a:endParaRPr lang="en-US" sz="4400" b="1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sz="4400" b="1" dirty="0" err="1">
                <a:solidFill>
                  <a:schemeClr val="accent5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/>
            </a:r>
            <a:endParaRPr sz="4400" b="1" dirty="0">
              <a:solidFill>
                <a:schemeClr val="accent5">
                  <a:lumMod val="7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450854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PLUS-V2-2b74ce49-67ff-4db7-8234-b6946ece861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E0000"/>
      </a:accent1>
      <a:accent2>
        <a:srgbClr val="FF4300"/>
      </a:accent2>
      <a:accent3>
        <a:srgbClr val="FF4C16"/>
      </a:accent3>
      <a:accent4>
        <a:srgbClr val="FFA300"/>
      </a:accent4>
      <a:accent5>
        <a:srgbClr val="FF8C00"/>
      </a:accent5>
      <a:accent6>
        <a:srgbClr val="E4271B"/>
      </a:accent6>
      <a:hlink>
        <a:srgbClr val="0563C1"/>
      </a:hlink>
      <a:folHlink>
        <a:srgbClr val="BFBFBF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PLUS-V2-2b74ce49-67ff-4db7-8234-b6946ece8610" id="{467567F3-A57E-4076-A132-C8B5E4730C50}" vid="{17063E3B-B560-4B1B-BF3E-D55F94508DE9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5265</Words>
  <Application>Microsoft Office PowerPoint</Application>
  <PresentationFormat>宽屏</PresentationFormat>
  <Paragraphs>212</Paragraphs>
  <Slides>22</Slides>
  <Notes>19</Notes>
  <HiddenSlides>0</HiddenSlides>
  <MMClips>5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quote-cjk-patch</vt:lpstr>
      <vt:lpstr>Source Han Sans</vt:lpstr>
      <vt:lpstr>Source Han Serif CN</vt:lpstr>
      <vt:lpstr>等线</vt:lpstr>
      <vt:lpstr>等线 Light</vt:lpstr>
      <vt:lpstr>黑体</vt:lpstr>
      <vt:lpstr>宋体</vt:lpstr>
      <vt:lpstr>Arial</vt:lpstr>
      <vt:lpstr>Open Sans</vt:lpstr>
      <vt:lpstr>2_Office 主题​​</vt:lpstr>
      <vt:lpstr>3_Office 主题​​</vt:lpstr>
      <vt:lpstr>OfficePLUS-V2-2b74ce49-67ff-4db7-8234-b6946ece8610</vt:lpstr>
      <vt:lpstr>脑机接口技术：马克思主义视角下，科技对人的身体与劳动的重塑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2.1科技是生产力：脑机接口是新型劳动资料</vt:lpstr>
      <vt:lpstr>2.1科技是生产力：劳动资料是人的器官的延伸</vt:lpstr>
      <vt:lpstr>2.2价值归宿：科技服务于人的解放与全面发展</vt:lpstr>
      <vt:lpstr>2.2价值归宿：科技服务于人的解放与全面发展</vt:lpstr>
      <vt:lpstr>2.2生产力进步的积极面：追求人的解放与全面发展</vt:lpstr>
      <vt:lpstr>2.3生产力进步带来的三大新矛盾：成本、隐私与伦理</vt:lpstr>
      <vt:lpstr>2.4矛盾深化与理论反思：技术会否反过来支配人？</vt:lpstr>
      <vt:lpstr>2.4矛盾深化与理论反思：技术会否反过来支配人？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脑机接口的马克思主义框架（风格统一10页版）</dc:title>
  <dc:creator>当代马克思主义第四组</dc:creator>
  <cp:lastModifiedBy>Vickey Jiang</cp:lastModifiedBy>
  <cp:revision>9</cp:revision>
  <dcterms:created xsi:type="dcterms:W3CDTF">2026-10-11T09:25:00Z</dcterms:created>
  <dcterms:modified xsi:type="dcterms:W3CDTF">2026-10-12T15:18:32Z</dcterms:modified>
  <dc:subject>技术对身体与劳动的重塑：异化、社会关系、资本逻辑与科技向善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CD873116A3D844E9B54B2FF7E820B52B_12</vt:lpwstr>
  </property>
</Properties>
</file>