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  <p:sldMasterId id="2147483684" r:id="rId2"/>
    <p:sldMasterId id="2147483696" r:id="rId3"/>
  </p:sldMasterIdLst>
  <p:notesMasterIdLst>
    <p:notesMasterId r:id="rId26"/>
  </p:notesMasterIdLst>
  <p:sldIdLst>
    <p:sldId id="289" r:id="rId17"/>
    <p:sldId id="28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32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6" Type="http://schemas.openxmlformats.org/officeDocument/2006/relationships/slide" Target="slides/slide2.xml"/><Relationship Id="rId17" Type="http://schemas.openxmlformats.org/officeDocument/2006/relationships/slide" Target="slides/slide1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E54EE-8195-4824-8EA9-CDAD5D5A2DD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86C88-17A3-4FE9-947C-6BBF2092A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这三件理论工具放到脑机接口上，我们聚焦身体和劳动两条线。身体层面，技术从体外工具进入神经系统，人机边界被重画；医疗修复可以恢复行动能力，但资本驱动的增强也可能制造新的身体不平等。劳动层面，神经信号、注意力和情绪可能变成可采集、量化、占有的数据资源，劳动控制由考勤和计件逼近神经层面。我们的立场不是拒绝技术，而是指出技术并不中性：关键在于谁掌控、为谁服务，并把技术从资本增殖逻辑中解放出来。下面由身体组和劳动组分别展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701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理论部分用三件工具建立分析框架。第一，异化劳动。《1844年经济学哲学手稿》揭示，人的本质力量外化后，可能反过来成为支配人的异己力量。第二，人的本质的社会性。准确引文“人的本质，在其现实性上，是一切社会关系的总和”出自《关于费尔巴哈的提纲》第六条；因此，人机边界不能只用生物学定义，也要放在社会关系中理解。第三，机器体系与资本增殖。《资本论》第一卷提示，机器能扩展生产力，也会在资本关系中组织劳动、追求剩余价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1735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4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54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35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5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82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02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24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77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02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20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244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523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333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229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655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20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15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215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562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362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084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249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fficePLUSCoverBackgroundShape">
            <a:extLst>
              <a:ext uri="{FF2B5EF4-FFF2-40B4-BE49-F238E27FC236}">
                <a16:creationId xmlns:a16="http://schemas.microsoft.com/office/drawing/2014/main" id="{9334B791-F3FC-47EA-B41B-2DA7DD9B4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" y="0"/>
            <a:ext cx="12191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24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34B791-F3FC-47EA-B41B-2DA7DD9B4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" y="0"/>
            <a:ext cx="12191303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AACAFB-E078-41E5-BE32-2CCD597E1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7649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r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000" b="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578" lvl="0" indent="-228578" algn="r">
              <a:spcBef>
                <a:spcPct val="0"/>
              </a:spcBef>
            </a:pPr>
            <a:r>
              <a:rPr lang="en-US" altLang="zh-CN" dirty="0"/>
              <a:t>Speaker name and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93D43E-1697-4C76-BF37-C96E16B134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100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000" b="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OfficePLUS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D368F-863D-4527-8F6D-CEC87B7E23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2" y="2003919"/>
            <a:ext cx="6703784" cy="1754326"/>
          </a:xfrm>
        </p:spPr>
        <p:txBody>
          <a:bodyPr anchor="b">
            <a:sp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Click to edit Master title style 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FF249-69FA-478C-853F-D62CA2935D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3100" y="4784612"/>
            <a:ext cx="6703784" cy="258532"/>
          </a:xfrm>
        </p:spPr>
        <p:txBody>
          <a:bodyPr>
            <a:sp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200" kern="1200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69863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A07286-EFF6-4FBB-8C1B-ACB292A0D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" y="0"/>
            <a:ext cx="1219130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40EAC-1236-4C2C-A5B0-5B2D469D0A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661" y="2560773"/>
            <a:ext cx="5677105" cy="1133475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2325-CA12-44BF-8B8C-2D3C6232D8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94661" y="3721233"/>
            <a:ext cx="5677105" cy="965763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9326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5B30-EAE6-475D-9E77-B9C4E87F9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27A5331-58C4-4210-9B29-7D209EC6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C1F83E-F48A-4A82-AEA9-9C5660FB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47482C-BA78-45A4-AAF3-F9A7E84F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4021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3955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D4D178-C5A2-44AC-9D62-474206DAA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" y="0"/>
            <a:ext cx="12191303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A271160-581E-4BCE-BACF-7271659F1D01}"/>
              </a:ext>
            </a:extLst>
          </p:cNvPr>
          <p:cNvSpPr/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4C84A20-CF9D-4080-959D-55F32AB29A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5191" y="4503886"/>
            <a:ext cx="5133876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r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Signature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EA7D86A-A334-4E0C-B01B-43F345A176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5191" y="4762418"/>
            <a:ext cx="5133876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r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A48BB-A1A1-4744-B0D3-FD4F42C33B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5191" y="2505670"/>
            <a:ext cx="5133876" cy="923330"/>
          </a:xfrm>
        </p:spPr>
        <p:txBody>
          <a:bodyPr wrap="square" anchor="b">
            <a:spAutoFit/>
          </a:bodyPr>
          <a:lstStyle>
            <a:lvl1pPr marL="0" indent="0" algn="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altLang="zh-CN" sz="6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603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78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62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18504-D86E-411A-B171-2A74DE29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A4509-A6D7-41B5-BE28-213FB58E8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DEDA773-1B71-4202-AD8A-0D33468FE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0483E03-0186-4754-8285-0D57953FB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8030F2-F0B4-4140-B9B5-8B5B27074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04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CD3CB-8879-BB2C-D664-761C701A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03</a:t>
            </a:r>
            <a:r>
              <a:rPr lang="zh-CN" altLang="en-US"/>
              <a:t> 理论工具：马克思主义分析三件套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B3D00A-AEB5-25B8-FB7F-2FB534E7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ACB4CB9D-FC92-A41E-AFFA-F1F6A2915CF4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19">
            <a:extLst>
              <a:ext uri="{FF2B5EF4-FFF2-40B4-BE49-F238E27FC236}">
                <a16:creationId xmlns:a16="http://schemas.microsoft.com/office/drawing/2014/main" id="{2F775F0C-7463-945F-95AE-6BDADDD6D7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03924" y="2185540"/>
            <a:ext cx="4723218" cy="330071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AutoShape 7">
            <a:extLst>
              <a:ext uri="{FF2B5EF4-FFF2-40B4-BE49-F238E27FC236}">
                <a16:creationId xmlns:a16="http://schemas.microsoft.com/office/drawing/2014/main" id="{DFA50CEA-1227-4D3A-1C81-A949AC6DAF0C}"/>
              </a:ext>
            </a:extLst>
          </p:cNvPr>
          <p:cNvSpPr/>
          <p:nvPr/>
        </p:nvSpPr>
        <p:spPr>
          <a:xfrm>
            <a:off x="363777" y="1528167"/>
            <a:ext cx="9522" cy="575221"/>
          </a:xfrm>
          <a:prstGeom prst="line">
            <a:avLst/>
          </a:prstGeom>
          <a:ln w="28575">
            <a:solidFill>
              <a:srgbClr val="2F7B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D734C-A74A-9A82-F0F6-118E90399EC1}"/>
              </a:ext>
            </a:extLst>
          </p:cNvPr>
          <p:cNvSpPr txBox="1"/>
          <p:nvPr/>
        </p:nvSpPr>
        <p:spPr>
          <a:xfrm>
            <a:off x="535184" y="1604367"/>
            <a:ext cx="534218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MARX · 1844</a:t>
            </a:r>
            <a:endParaRPr lang="en-US" sz="1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3947B5-C11B-970B-E78F-71171593C44C}"/>
              </a:ext>
            </a:extLst>
          </p:cNvPr>
          <p:cNvSpPr txBox="1"/>
          <p:nvPr/>
        </p:nvSpPr>
        <p:spPr>
          <a:xfrm>
            <a:off x="544706" y="1823442"/>
            <a:ext cx="1048440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>异化劳动：人的力量可能反成支配人的异己力量。</a:t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C7A25DC1-82D4-39B6-C6C9-90B394AD5A75}"/>
              </a:ext>
            </a:extLst>
          </p:cNvPr>
          <p:cNvSpPr/>
          <p:nvPr/>
        </p:nvSpPr>
        <p:spPr>
          <a:xfrm>
            <a:off x="363777" y="2236738"/>
            <a:ext cx="9522" cy="788491"/>
          </a:xfrm>
          <a:prstGeom prst="line">
            <a:avLst/>
          </a:prstGeom>
          <a:ln w="28575">
            <a:solidFill>
              <a:srgbClr val="2F7B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CD655-4187-52ED-0543-2C098DE3775D}"/>
              </a:ext>
            </a:extLst>
          </p:cNvPr>
          <p:cNvSpPr txBox="1"/>
          <p:nvPr/>
        </p:nvSpPr>
        <p:spPr>
          <a:xfrm>
            <a:off x="544706" y="2331988"/>
            <a:ext cx="534218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MARX · THESIS VI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C54988-8CB3-B34F-73C1-6A1C2FF5C5EF}"/>
              </a:ext>
            </a:extLst>
          </p:cNvPr>
          <p:cNvSpPr txBox="1"/>
          <p:nvPr/>
        </p:nvSpPr>
        <p:spPr>
          <a:xfrm>
            <a:off x="544706" y="2532013"/>
            <a:ext cx="6085408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>“人的本质是一切社会关系的总和。”</a:t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30EC1077-B49E-5195-719F-33F8A512DC4D}"/>
              </a:ext>
            </a:extLst>
          </p:cNvPr>
          <p:cNvSpPr/>
          <p:nvPr/>
        </p:nvSpPr>
        <p:spPr>
          <a:xfrm>
            <a:off x="363777" y="3158579"/>
            <a:ext cx="9522" cy="575221"/>
          </a:xfrm>
          <a:prstGeom prst="line">
            <a:avLst/>
          </a:prstGeom>
          <a:ln w="28575">
            <a:solidFill>
              <a:srgbClr val="2F7B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96CCDF-049E-AB77-8589-F121B1B9D2E6}"/>
              </a:ext>
            </a:extLst>
          </p:cNvPr>
          <p:cNvSpPr txBox="1"/>
          <p:nvPr/>
        </p:nvSpPr>
        <p:spPr>
          <a:xfrm>
            <a:off x="544706" y="3253829"/>
            <a:ext cx="534218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MARX · CAPITAL I</a:t>
            </a:r>
            <a:r>
              <a:rPr lang="en-US" sz="11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9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5FC58B-B3FE-0CAA-26A0-A7ED45A756E1}"/>
              </a:ext>
            </a:extLst>
          </p:cNvPr>
          <p:cNvSpPr txBox="1"/>
          <p:nvPr/>
        </p:nvSpPr>
        <p:spPr>
          <a:xfrm>
            <a:off x="544706" y="3453854"/>
            <a:ext cx="534218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机器体系：资本组织劳动、追求剩余价值。</a:t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02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63164-AFD9-DB5D-3077-8E69D382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03EAA9C-2ED3-31A0-DD47-8EFFC01EF61D}"/>
              </a:ext>
            </a:extLst>
          </p:cNvPr>
          <p:cNvSpPr txBox="1"/>
          <p:nvPr/>
        </p:nvSpPr>
        <p:spPr>
          <a:xfrm>
            <a:off x="914171" y="533400"/>
            <a:ext cx="1036060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6E746A">
                    <a:alpha val="100000"/>
                  </a:srgb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</a:rPr>
              <a:t>BODY &amp; LABOR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8E48160-4353-9F29-4F53-A364EE4F4F67}"/>
              </a:ext>
            </a:extLst>
          </p:cNvPr>
          <p:cNvSpPr txBox="1"/>
          <p:nvPr/>
        </p:nvSpPr>
        <p:spPr>
          <a:xfrm>
            <a:off x="914171" y="809625"/>
            <a:ext cx="10360609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3E02AAB6-422F-CAEF-15D1-F182465008AC}"/>
              </a:ext>
            </a:extLst>
          </p:cNvPr>
          <p:cNvSpPr/>
          <p:nvPr/>
        </p:nvSpPr>
        <p:spPr>
          <a:xfrm>
            <a:off x="914171" y="1897261"/>
            <a:ext cx="5066033" cy="4579739"/>
          </a:xfrm>
          <a:prstGeom prst="roundRect">
            <a:avLst>
              <a:gd name="adj" fmla="val 249"/>
            </a:avLst>
          </a:prstGeom>
          <a:solidFill>
            <a:srgbClr val="F4F5F0">
              <a:alpha val="100000"/>
            </a:srgbClr>
          </a:solidFill>
          <a:ln w="9525">
            <a:solidFill>
              <a:srgbClr val="E3E4DD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FE80932E-98A8-A60B-A7F9-CCE6A0CD42FF}"/>
              </a:ext>
            </a:extLst>
          </p:cNvPr>
          <p:cNvSpPr/>
          <p:nvPr/>
        </p:nvSpPr>
        <p:spPr>
          <a:xfrm>
            <a:off x="914171" y="1897261"/>
            <a:ext cx="5066033" cy="9525"/>
          </a:xfrm>
          <a:prstGeom prst="line">
            <a:avLst/>
          </a:prstGeom>
          <a:ln w="28575">
            <a:solidFill>
              <a:srgbClr val="2F7B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26B1DCD-5D77-B95C-643C-39A38EE1E6A9}"/>
              </a:ext>
            </a:extLst>
          </p:cNvPr>
          <p:cNvSpPr txBox="1"/>
          <p:nvPr/>
        </p:nvSpPr>
        <p:spPr>
          <a:xfrm>
            <a:off x="1190328" y="2163961"/>
            <a:ext cx="4513721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600" b="1" i="0" strike="noStrike">
                <a:solidFill>
                  <a:srgbClr val="2F7BFF">
                    <a:alpha val="18039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01</a:t>
            </a:r>
            <a:endParaRPr lang="en-US" sz="11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90C26E9-D314-A62F-2FDA-6DF4C07553C3}"/>
              </a:ext>
            </a:extLst>
          </p:cNvPr>
          <p:cNvSpPr txBox="1"/>
          <p:nvPr/>
        </p:nvSpPr>
        <p:spPr>
          <a:xfrm>
            <a:off x="1190328" y="2764036"/>
            <a:ext cx="451372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身体重塑：人机边界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8943B32B-6553-2A1F-786D-FDCFCEC2FDEE}"/>
              </a:ext>
            </a:extLst>
          </p:cNvPr>
          <p:cNvSpPr/>
          <p:nvPr/>
        </p:nvSpPr>
        <p:spPr>
          <a:xfrm>
            <a:off x="1190328" y="3249811"/>
            <a:ext cx="57136" cy="57150"/>
          </a:xfrm>
          <a:prstGeom prst="ellipse">
            <a:avLst/>
          </a:prstGeom>
          <a:solidFill>
            <a:srgbClr val="2F7BFF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8BE73C06-A6E0-BB01-932A-9E033EDDCFFF}"/>
              </a:ext>
            </a:extLst>
          </p:cNvPr>
          <p:cNvSpPr txBox="1"/>
          <p:nvPr/>
        </p:nvSpPr>
        <p:spPr>
          <a:xfrm>
            <a:off x="1342690" y="3211711"/>
            <a:ext cx="436135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神经接入：身体与技术边界交织。</a:t>
            </a:r>
            <a:r>
              <a:rPr lang="zh-CN" alt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altLang="zh-CN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zh-CN" alt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CCDA626E-2EE8-934B-BCEB-7F82D6CEB5EE}"/>
              </a:ext>
            </a:extLst>
          </p:cNvPr>
          <p:cNvSpPr/>
          <p:nvPr/>
        </p:nvSpPr>
        <p:spPr>
          <a:xfrm>
            <a:off x="1190328" y="4068757"/>
            <a:ext cx="57136" cy="57150"/>
          </a:xfrm>
          <a:prstGeom prst="ellipse">
            <a:avLst/>
          </a:prstGeom>
          <a:solidFill>
            <a:srgbClr val="2F7BFF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5A898B64-1679-5411-D284-347AB633653E}"/>
              </a:ext>
            </a:extLst>
          </p:cNvPr>
          <p:cNvSpPr txBox="1"/>
          <p:nvPr/>
        </p:nvSpPr>
        <p:spPr>
          <a:xfrm>
            <a:off x="1342690" y="4053385"/>
            <a:ext cx="4361359" cy="55273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医疗修复可恢复能力；资本驱动的增强可能扩大不平等。</a:t>
            </a: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D156305E-5542-3C22-ABFC-6C93CB65A74A}"/>
              </a:ext>
            </a:extLst>
          </p:cNvPr>
          <p:cNvSpPr/>
          <p:nvPr/>
        </p:nvSpPr>
        <p:spPr>
          <a:xfrm>
            <a:off x="1221869" y="4876268"/>
            <a:ext cx="57136" cy="57150"/>
          </a:xfrm>
          <a:prstGeom prst="ellipse">
            <a:avLst/>
          </a:prstGeom>
          <a:solidFill>
            <a:srgbClr val="2F7BFF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A8F398C9-9849-A7E1-F287-8B189C0BA1E2}"/>
              </a:ext>
            </a:extLst>
          </p:cNvPr>
          <p:cNvSpPr txBox="1"/>
          <p:nvPr/>
        </p:nvSpPr>
        <p:spPr>
          <a:xfrm>
            <a:off x="1342690" y="4783336"/>
            <a:ext cx="4361359" cy="65171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关键不在拒绝技术，而在谁决定重塑方向。</a:t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209EC92D-BB0D-179A-A109-27FF375E5188}"/>
              </a:ext>
            </a:extLst>
          </p:cNvPr>
          <p:cNvSpPr/>
          <p:nvPr/>
        </p:nvSpPr>
        <p:spPr>
          <a:xfrm>
            <a:off x="6208747" y="1897261"/>
            <a:ext cx="5066033" cy="4579739"/>
          </a:xfrm>
          <a:prstGeom prst="roundRect">
            <a:avLst>
              <a:gd name="adj" fmla="val 249"/>
            </a:avLst>
          </a:prstGeom>
          <a:solidFill>
            <a:srgbClr val="F4F5F0">
              <a:alpha val="100000"/>
            </a:srgbClr>
          </a:solidFill>
          <a:ln w="9525">
            <a:solidFill>
              <a:srgbClr val="E3E4DD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AutoShape 18">
            <a:extLst>
              <a:ext uri="{FF2B5EF4-FFF2-40B4-BE49-F238E27FC236}">
                <a16:creationId xmlns:a16="http://schemas.microsoft.com/office/drawing/2014/main" id="{0AF960E6-A6ED-15FD-BBA6-081069CA1DF8}"/>
              </a:ext>
            </a:extLst>
          </p:cNvPr>
          <p:cNvSpPr/>
          <p:nvPr/>
        </p:nvSpPr>
        <p:spPr>
          <a:xfrm>
            <a:off x="6208747" y="1897261"/>
            <a:ext cx="5066033" cy="9525"/>
          </a:xfrm>
          <a:prstGeom prst="line">
            <a:avLst/>
          </a:prstGeom>
          <a:ln w="28575">
            <a:solidFill>
              <a:srgbClr val="23C76A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A6404D6-DD9A-86BE-54BD-33185B345B69}"/>
              </a:ext>
            </a:extLst>
          </p:cNvPr>
          <p:cNvSpPr txBox="1"/>
          <p:nvPr/>
        </p:nvSpPr>
        <p:spPr>
          <a:xfrm>
            <a:off x="6484903" y="2163961"/>
            <a:ext cx="4513721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600" b="1" i="0" strike="noStrike">
                <a:solidFill>
                  <a:srgbClr val="23C76A">
                    <a:alpha val="2196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lang="en-US" sz="11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CA4AD3AF-B746-A0E7-31D9-B732517B9600}"/>
              </a:ext>
            </a:extLst>
          </p:cNvPr>
          <p:cNvSpPr txBox="1"/>
          <p:nvPr/>
        </p:nvSpPr>
        <p:spPr>
          <a:xfrm>
            <a:off x="6484903" y="2764036"/>
            <a:ext cx="451372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劳动重塑：脑数据</a:t>
            </a:r>
            <a:endParaRPr lang="en-US" sz="11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AutoShape 21">
            <a:extLst>
              <a:ext uri="{FF2B5EF4-FFF2-40B4-BE49-F238E27FC236}">
                <a16:creationId xmlns:a16="http://schemas.microsoft.com/office/drawing/2014/main" id="{EF556EBD-27CF-808E-CD47-56F1088E3F85}"/>
              </a:ext>
            </a:extLst>
          </p:cNvPr>
          <p:cNvSpPr/>
          <p:nvPr/>
        </p:nvSpPr>
        <p:spPr>
          <a:xfrm>
            <a:off x="6484903" y="3277107"/>
            <a:ext cx="57136" cy="57150"/>
          </a:xfrm>
          <a:prstGeom prst="ellipse">
            <a:avLst/>
          </a:prstGeom>
          <a:solidFill>
            <a:srgbClr val="23C76A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D66C905E-0A85-C1FF-39AA-884B7D147450}"/>
              </a:ext>
            </a:extLst>
          </p:cNvPr>
          <p:cNvSpPr txBox="1"/>
          <p:nvPr/>
        </p:nvSpPr>
        <p:spPr>
          <a:xfrm>
            <a:off x="6637265" y="3211711"/>
            <a:ext cx="436135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神经信号、注意力与情绪可能成为可采集的数据。</a:t>
            </a: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EE40F862-DFEE-FBD9-734A-DC2B3EDF7BC9}"/>
              </a:ext>
            </a:extLst>
          </p:cNvPr>
          <p:cNvSpPr txBox="1"/>
          <p:nvPr/>
        </p:nvSpPr>
        <p:spPr>
          <a:xfrm>
            <a:off x="6637265" y="4068757"/>
            <a:ext cx="4361359" cy="61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脑数据被量化、占有，思维过程也可能成为资产。</a:t>
            </a: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B1E19D1C-9B2E-69B3-B812-BA2085E05782}"/>
              </a:ext>
            </a:extLst>
          </p:cNvPr>
          <p:cNvSpPr txBox="1"/>
          <p:nvPr/>
        </p:nvSpPr>
        <p:spPr>
          <a:xfrm>
            <a:off x="6637265" y="4933418"/>
            <a:ext cx="4361359" cy="50163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劳动控制从考勤、计件逼近神经层面的“读脑”。</a:t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3AC9E0A-0F50-60B5-21D1-34D41ADF0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55450B1F-22B7-8A2D-8DD3-874D423B2D90}"/>
              </a:ext>
            </a:extLst>
          </p:cNvPr>
          <p:cNvSpPr txBox="1"/>
          <p:nvPr/>
        </p:nvSpPr>
        <p:spPr>
          <a:xfrm>
            <a:off x="179998" y="-54039"/>
            <a:ext cx="7505078" cy="65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技术非中性：资本逻辑深入身体与神经</a:t>
            </a:r>
          </a:p>
        </p:txBody>
      </p:sp>
      <p:sp>
        <p:nvSpPr>
          <p:cNvPr id="31" name="AutoShape 21">
            <a:extLst>
              <a:ext uri="{FF2B5EF4-FFF2-40B4-BE49-F238E27FC236}">
                <a16:creationId xmlns:a16="http://schemas.microsoft.com/office/drawing/2014/main" id="{B87C6458-F812-A2AC-E65E-5336107BF1A7}"/>
              </a:ext>
            </a:extLst>
          </p:cNvPr>
          <p:cNvSpPr/>
          <p:nvPr/>
        </p:nvSpPr>
        <p:spPr>
          <a:xfrm>
            <a:off x="6484903" y="4134743"/>
            <a:ext cx="57136" cy="57150"/>
          </a:xfrm>
          <a:prstGeom prst="ellipse">
            <a:avLst/>
          </a:prstGeom>
          <a:solidFill>
            <a:srgbClr val="23C76A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AutoShape 21">
            <a:extLst>
              <a:ext uri="{FF2B5EF4-FFF2-40B4-BE49-F238E27FC236}">
                <a16:creationId xmlns:a16="http://schemas.microsoft.com/office/drawing/2014/main" id="{65FAF9F1-0B36-DBA7-BBA9-A188D4218935}"/>
              </a:ext>
            </a:extLst>
          </p:cNvPr>
          <p:cNvSpPr/>
          <p:nvPr/>
        </p:nvSpPr>
        <p:spPr>
          <a:xfrm>
            <a:off x="6484903" y="5052045"/>
            <a:ext cx="57136" cy="57150"/>
          </a:xfrm>
          <a:prstGeom prst="ellipse">
            <a:avLst/>
          </a:prstGeom>
          <a:solidFill>
            <a:srgbClr val="23C76A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70191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PLUS-V2-2b74ce49-67ff-4db7-8234-b6946ece861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E0000"/>
      </a:accent1>
      <a:accent2>
        <a:srgbClr val="FF4300"/>
      </a:accent2>
      <a:accent3>
        <a:srgbClr val="FF4C16"/>
      </a:accent3>
      <a:accent4>
        <a:srgbClr val="FFA300"/>
      </a:accent4>
      <a:accent5>
        <a:srgbClr val="FF8C00"/>
      </a:accent5>
      <a:accent6>
        <a:srgbClr val="E4271B"/>
      </a:accent6>
      <a:hlink>
        <a:srgbClr val="0563C1"/>
      </a:hlink>
      <a:folHlink>
        <a:srgbClr val="BFBFBF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-V2-2b74ce49-67ff-4db7-8234-b6946ece8610" id="{467567F3-A57E-4076-A132-C8B5E4730C50}" vid="{17063E3B-B560-4B1B-BF3E-D55F94508DE9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5265</Words>
  <Application>Microsoft Office PowerPoint</Application>
  <PresentationFormat>宽屏</PresentationFormat>
  <Paragraphs>212</Paragraphs>
  <Slides>22</Slides>
  <Notes>19</Notes>
  <HiddenSlides>0</HiddenSlides>
  <MMClips>5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quote-cjk-patch</vt:lpstr>
      <vt:lpstr>Source Han Sans</vt:lpstr>
      <vt:lpstr>Source Han Serif CN</vt:lpstr>
      <vt:lpstr>等线</vt:lpstr>
      <vt:lpstr>等线 Light</vt:lpstr>
      <vt:lpstr>黑体</vt:lpstr>
      <vt:lpstr>宋体</vt:lpstr>
      <vt:lpstr>Arial</vt:lpstr>
      <vt:lpstr>Open Sans</vt:lpstr>
      <vt:lpstr>2_Office 主题​​</vt:lpstr>
      <vt:lpstr>3_Office 主题​​</vt:lpstr>
      <vt:lpstr>OfficePLUS-V2-2b74ce49-67ff-4db7-8234-b6946ece8610</vt:lpstr>
      <vt:lpstr>脑机接口技术：马克思主义视角下，科技对人的身体与劳动的重塑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2.1科技是生产力：脑机接口是新型劳动资料</vt:lpstr>
      <vt:lpstr>2.1科技是生产力：劳动资料是人的器官的延伸</vt:lpstr>
      <vt:lpstr>2.2价值归宿：科技服务于人的解放与全面发展</vt:lpstr>
      <vt:lpstr>2.2价值归宿：科技服务于人的解放与全面发展</vt:lpstr>
      <vt:lpstr>2.2生产力进步的积极面：追求人的解放与全面发展</vt:lpstr>
      <vt:lpstr>2.3生产力进步带来的三大新矛盾：成本、隐私与伦理</vt:lpstr>
      <vt:lpstr>2.4矛盾深化与理论反思：技术会否反过来支配人？</vt:lpstr>
      <vt:lpstr>2.4矛盾深化与理论反思：技术会否反过来支配人？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脑机接口：马克思主义理论部分（风格统一版）</dc:title>
  <dc:creator>当代马克思主义第四组</dc:creator>
  <cp:lastModifiedBy>Vickey Jiang</cp:lastModifiedBy>
  <cp:revision>9</cp:revision>
  <dcterms:created xsi:type="dcterms:W3CDTF">2026-10-11T09:25:00Z</dcterms:created>
  <dcterms:modified xsi:type="dcterms:W3CDTF">2026-10-12T15:18:32Z</dcterms:modified>
  <dc:subject>理论框架：异化劳动、人的社会性、机器体系与资本增殖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CD873116A3D844E9B54B2FF7E820B52B_12</vt:lpwstr>
  </property>
</Properties>
</file>